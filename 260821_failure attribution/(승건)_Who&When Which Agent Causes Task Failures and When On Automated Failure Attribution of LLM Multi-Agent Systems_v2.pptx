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6" r:id="rId4"/>
    <p:sldId id="267" r:id="rId5"/>
    <p:sldId id="268" r:id="rId6"/>
    <p:sldId id="259" r:id="rId7"/>
    <p:sldId id="260" r:id="rId8"/>
    <p:sldId id="269" r:id="rId9"/>
    <p:sldId id="270" r:id="rId10"/>
    <p:sldId id="261" r:id="rId11"/>
    <p:sldId id="271" r:id="rId12"/>
    <p:sldId id="262" r:id="rId13"/>
    <p:sldId id="263" r:id="rId14"/>
    <p:sldId id="265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49F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431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F0E119-CA2E-4472-8750-EF765870AD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6C70B6-12EF-4691-A34F-429764DF48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45DEA-4B86-45D3-A8B7-CC92480721EC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CD2638-ED76-496E-A5D5-AC98211321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D03404-9D57-45EE-9D7D-5F9AF1951B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0D7ED-82FB-40A9-A1F6-3374A0B5D1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195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49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45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87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46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7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9011FD-90AD-4D8C-A326-717C99AD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013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9A24B2F2-3B89-48EF-B050-76D4DC35B44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505.0021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454621"/>
            <a:ext cx="10607040" cy="1825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&amp; When: </a:t>
            </a:r>
            <a:r>
              <a:rPr lang="en-US" altLang="ko-KR" sz="3600" b="1" i="0" dirty="0">
                <a:solidFill>
                  <a:srgbClr val="000000"/>
                </a:solidFill>
                <a:effectLst/>
                <a:latin typeface="Lucida Grande"/>
              </a:rPr>
              <a:t>Which Agent Causes Task Failures and When? On Automated Failure Attribution of LLM Multi-Agent Systems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3661208"/>
            <a:ext cx="7315200" cy="17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저자·소속  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S. Zhang et al. / Pennsylvania State Univ. ]
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학회·연도  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[ 42</a:t>
            </a:r>
            <a:r>
              <a:rPr lang="en-US" sz="1300" baseline="30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PMLR 2025, Vancouver]
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링크  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2505.00212 /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/>
              </a:rPr>
              <a:t>https://doi.org/10.48550/arXiv.2505.00212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59468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  </a:t>
            </a:r>
            <a:r>
              <a:rPr 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MAS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Automated Failure Attribution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선두주자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평가지표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방법론을 제안했으나 실용 수준에는 미치지 못함 </a:t>
            </a:r>
            <a:r>
              <a:rPr 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1603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석사과정 </a:t>
            </a:r>
            <a:r>
              <a:rPr lang="ko-KR" altLang="en-US" sz="1100" b="1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이승건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2304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49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문제 상황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063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문제·공백에서 출발했는가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0824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2B5A7878-C324-41EC-95DA-D7DA3E7174BE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최근 </a:t>
            </a:r>
            <a:r>
              <a:rPr lang="en-US" altLang="ko-KR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LLM</a:t>
            </a: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</a:t>
            </a: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Multi-Agent</a:t>
            </a:r>
            <a:r>
              <a:rPr lang="en-US" altLang="ko-KR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System</a:t>
            </a: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에 대한 연구가 활발하게 진행 </a:t>
            </a:r>
            <a:endParaRPr lang="en-US" altLang="ko-KR" sz="1600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561E0D-005D-4534-B09B-4F5F0970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09" y="2366888"/>
            <a:ext cx="3602891" cy="169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DD18002-AA71-478F-BCF0-48D7D949D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909" y="2366889"/>
            <a:ext cx="4056903" cy="169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46E868E-E1B3-46DF-A2DE-375E0007B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621" y="2366889"/>
            <a:ext cx="3024553" cy="1698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Google Shape;84;p35">
            <a:extLst>
              <a:ext uri="{FF2B5EF4-FFF2-40B4-BE49-F238E27FC236}">
                <a16:creationId xmlns:a16="http://schemas.microsoft.com/office/drawing/2014/main" id="{842CD329-8BE5-4194-9FC9-6ED1556295CC}"/>
              </a:ext>
            </a:extLst>
          </p:cNvPr>
          <p:cNvSpPr txBox="1"/>
          <p:nvPr/>
        </p:nvSpPr>
        <p:spPr>
          <a:xfrm>
            <a:off x="1185595" y="4411222"/>
            <a:ext cx="9482612" cy="1723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여러 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Agent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가 서로 협력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, 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경쟁하며 복잡한 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task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를 수행</a:t>
            </a:r>
            <a:endParaRPr lang="en-US" altLang="ko-KR" sz="1600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하지만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, </a:t>
            </a:r>
            <a:r>
              <a:rPr lang="en-US" altLang="ko-KR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Multi-Agent</a:t>
            </a: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의 성능 평가에 초점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을 맞추고 있음</a:t>
            </a:r>
            <a:endParaRPr lang="en-US" altLang="ko-KR" sz="1600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altLang="ko-KR" sz="1600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altLang="ko-KR" sz="1600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MAS</a:t>
            </a:r>
            <a:r>
              <a:rPr lang="ko-KR" altLang="en-US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가 실패하는 경우</a:t>
            </a:r>
            <a:r>
              <a:rPr lang="en-US" altLang="ko-KR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, </a:t>
            </a:r>
            <a:r>
              <a:rPr lang="ko-KR" altLang="en-US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어떤 </a:t>
            </a:r>
            <a:r>
              <a:rPr lang="en-US" altLang="ko-KR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Agent</a:t>
            </a:r>
            <a:r>
              <a:rPr lang="ko-KR" altLang="en-US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가 원인이었는지 실패 원인 분석을 다루지 않음</a:t>
            </a:r>
            <a:endParaRPr lang="en-US" altLang="ko-KR" sz="1600" b="1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본 논문에서는 </a:t>
            </a:r>
            <a:r>
              <a:rPr lang="en-US" altLang="ko-KR" sz="1600" b="1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“</a:t>
            </a:r>
            <a:r>
              <a:rPr lang="ko-KR" altLang="en-US" sz="1600" b="1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평가는 그 자체가 목적이 아니라 개선을 위한 수단이다</a:t>
            </a:r>
            <a:r>
              <a:rPr lang="en-US" altLang="ko-KR" sz="1600" b="1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.” 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의 원칙을 준수해야 한다고 주장</a:t>
            </a:r>
            <a:endParaRPr lang="en-US" altLang="ko-KR" sz="1600" b="1" dirty="0">
              <a:solidFill>
                <a:srgbClr val="7030A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4755E764-D6C2-4853-82D7-DC07462C325A}"/>
              </a:ext>
            </a:extLst>
          </p:cNvPr>
          <p:cNvSpPr/>
          <p:nvPr/>
        </p:nvSpPr>
        <p:spPr>
          <a:xfrm>
            <a:off x="5714250" y="5139018"/>
            <a:ext cx="425303" cy="273366"/>
          </a:xfrm>
          <a:prstGeom prst="downArrow">
            <a:avLst/>
          </a:prstGeom>
          <a:solidFill>
            <a:srgbClr val="00206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C664B-A8EC-420F-97ED-9A2B23BEBF3F}"/>
              </a:ext>
            </a:extLst>
          </p:cNvPr>
          <p:cNvSpPr txBox="1"/>
          <p:nvPr/>
        </p:nvSpPr>
        <p:spPr>
          <a:xfrm>
            <a:off x="3014424" y="5935991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i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Scriven, 1991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B4706D3-2866-47D8-977D-152B5F8D4227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8320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8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55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선행연구 대비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연구와 무엇이 다른가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ECB255C5-2A80-4273-8F0D-C2D39D3E82C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Failure Attribution: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개선을 위한 수단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F5A9-DD61-4A49-A6B6-51FFEB2E304F}"/>
              </a:ext>
            </a:extLst>
          </p:cNvPr>
          <p:cNvSpPr txBox="1"/>
          <p:nvPr/>
        </p:nvSpPr>
        <p:spPr>
          <a:xfrm>
            <a:off x="640079" y="1794547"/>
            <a:ext cx="10112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시스템 디버깅 시 어느 구성 요소가 작업 실패를 유발했는지 분석하는 과정  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작업 실패로 직접 이어지는 시스템의 구성 요소를 식별하는 것은 </a:t>
            </a: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개선을 안내하는 토대 역할을 하는 중요한 단계</a:t>
            </a:r>
            <a:endParaRPr lang="ko-KR" altLang="en-US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9B37B10-E6D3-47BE-ACA2-C31206F0E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97" y="2410094"/>
            <a:ext cx="4134806" cy="3615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71396C27-6B56-4B13-8AF7-AD4FAD61A00A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0739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8320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8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55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선행연구 대비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연구와 무엇이 다른가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ECB255C5-2A80-4273-8F0D-C2D39D3E82C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Failure Attribution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한계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F5A9-DD61-4A49-A6B6-51FFEB2E304F}"/>
              </a:ext>
            </a:extLst>
          </p:cNvPr>
          <p:cNvSpPr txBox="1"/>
          <p:nvPr/>
        </p:nvSpPr>
        <p:spPr>
          <a:xfrm>
            <a:off x="640079" y="1794547"/>
            <a:ext cx="10112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일반적으로 주류 연구에서 간과되며</a:t>
            </a:r>
            <a:r>
              <a:rPr lang="en-US" altLang="ko-KR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수작업으로 </a:t>
            </a:r>
            <a:r>
              <a:rPr lang="ko-KR" altLang="en-US" sz="1400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남겨짐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많은 </a:t>
            </a:r>
            <a:r>
              <a:rPr lang="en-US" altLang="ko-KR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Benchmark, Metric</a:t>
            </a: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빠른 오류 귀인을 가능하게 할 것이라는 믿음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세분화된 벤치마크를 개발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187C17-306A-415C-97E4-4EEFE5F2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97" y="2317767"/>
            <a:ext cx="4134806" cy="3615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E036DA-4B21-49DB-97F6-63F4D1353564}"/>
              </a:ext>
            </a:extLst>
          </p:cNvPr>
          <p:cNvSpPr txBox="1"/>
          <p:nvPr/>
        </p:nvSpPr>
        <p:spPr>
          <a:xfrm>
            <a:off x="1038182" y="6131366"/>
            <a:ext cx="10112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근본적인 문제를 해결하지 많고 더 많은 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Metric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참조 지점으로 제공하여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사후분석에서 병목현상이 발생</a:t>
            </a:r>
            <a:endParaRPr lang="en-US" altLang="ko-KR" b="1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3CE1957-898A-49F0-AEF9-3D58AA49C6E4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841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8320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8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55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선행연구 대비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연구와 무엇이 다른가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ECB255C5-2A80-4273-8F0D-C2D39D3E82C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Failure Attribution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한계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F5A9-DD61-4A49-A6B6-51FFEB2E304F}"/>
              </a:ext>
            </a:extLst>
          </p:cNvPr>
          <p:cNvSpPr txBox="1"/>
          <p:nvPr/>
        </p:nvSpPr>
        <p:spPr>
          <a:xfrm>
            <a:off x="640079" y="1794547"/>
            <a:ext cx="10112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일반적으로 주류 연구에서 간과되며</a:t>
            </a:r>
            <a:r>
              <a:rPr lang="en-US" altLang="ko-KR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수작업으로 </a:t>
            </a:r>
            <a:r>
              <a:rPr lang="ko-KR" altLang="en-US" sz="1400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남겨짐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많은 </a:t>
            </a:r>
            <a:r>
              <a:rPr lang="en-US" altLang="ko-KR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Benchmark, Metric</a:t>
            </a: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빠른 오류 귀인을 가능하게 할 것이라는 믿음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세분화된 벤치마크를 개발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187C17-306A-415C-97E4-4EEFE5F2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97" y="2317767"/>
            <a:ext cx="4134806" cy="3615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E036DA-4B21-49DB-97F6-63F4D1353564}"/>
              </a:ext>
            </a:extLst>
          </p:cNvPr>
          <p:cNvSpPr txBox="1"/>
          <p:nvPr/>
        </p:nvSpPr>
        <p:spPr>
          <a:xfrm>
            <a:off x="1038182" y="6131366"/>
            <a:ext cx="10112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근본적인 문제를 해결하지 많고 더 많은 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Metric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참조 지점으로 제공하여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사후분석에서 병목현상이 발생</a:t>
            </a:r>
            <a:endParaRPr lang="en-US" altLang="ko-KR" b="1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Google Shape;126;p37">
            <a:extLst>
              <a:ext uri="{FF2B5EF4-FFF2-40B4-BE49-F238E27FC236}">
                <a16:creationId xmlns:a16="http://schemas.microsoft.com/office/drawing/2014/main" id="{B3DBE969-6A26-42DE-A50A-E01DABAEA04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91919">
              <a:alpha val="9294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" panose="020B0502040504020204" pitchFamily="34" charset="0"/>
              <a:sym typeface="Arial"/>
            </a:endParaRPr>
          </a:p>
        </p:txBody>
      </p:sp>
      <p:sp>
        <p:nvSpPr>
          <p:cNvPr id="13" name="Google Shape;127;p37">
            <a:extLst>
              <a:ext uri="{FF2B5EF4-FFF2-40B4-BE49-F238E27FC236}">
                <a16:creationId xmlns:a16="http://schemas.microsoft.com/office/drawing/2014/main" id="{550E22F2-579D-446F-A5A0-397E94753544}"/>
              </a:ext>
            </a:extLst>
          </p:cNvPr>
          <p:cNvSpPr txBox="1"/>
          <p:nvPr/>
        </p:nvSpPr>
        <p:spPr>
          <a:xfrm>
            <a:off x="451265" y="2848085"/>
            <a:ext cx="11286419" cy="11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sz="2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LLM Multi-Agent System</a:t>
            </a:r>
            <a:r>
              <a:rPr lang="ko-KR" altLang="en-US" sz="2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에서 </a:t>
            </a:r>
            <a:endParaRPr lang="en-US" altLang="ko-KR" sz="2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sz="2800" b="1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oto Sans"/>
                <a:sym typeface="Noto Sans"/>
              </a:rPr>
              <a:t>Automatic Failure Attribution </a:t>
            </a:r>
            <a:r>
              <a:rPr lang="ko-KR" altLang="en-US" sz="2800" b="1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oto Sans"/>
                <a:sym typeface="Noto Sans"/>
              </a:rPr>
              <a:t>연구 분야 제안</a:t>
            </a:r>
            <a:endParaRPr lang="en-US" altLang="ko-KR" sz="2800" dirty="0">
              <a:solidFill>
                <a:schemeClr val="accent6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8257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396" y="252899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38396" y="25289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78476" y="25289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기여</a:t>
            </a:r>
            <a:endParaRPr lang="en-US" sz="2600" dirty="0"/>
          </a:p>
        </p:txBody>
      </p:sp>
      <p:sp>
        <p:nvSpPr>
          <p:cNvPr id="8" name="Google Shape;84;p35">
            <a:extLst>
              <a:ext uri="{FF2B5EF4-FFF2-40B4-BE49-F238E27FC236}">
                <a16:creationId xmlns:a16="http://schemas.microsoft.com/office/drawing/2014/main" id="{2D1EDBF4-22D8-45F2-BAAC-5134DDABAAF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본</a:t>
            </a: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연구의</a:t>
            </a: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기여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16AA6D1-DB8D-4F56-8E8A-66CF290087C7}"/>
              </a:ext>
            </a:extLst>
          </p:cNvPr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0310BBB-0EB1-446C-9D8D-5760F1144770}"/>
              </a:ext>
            </a:extLst>
          </p:cNvPr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300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Which Agent Causes Task Failures and When? On Automated Failure Attribution of LLM Multi-Agent Systems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B622B-FABF-4565-9023-7E941CD379D4}"/>
              </a:ext>
            </a:extLst>
          </p:cNvPr>
          <p:cNvSpPr txBox="1"/>
          <p:nvPr/>
        </p:nvSpPr>
        <p:spPr>
          <a:xfrm>
            <a:off x="640079" y="1794547"/>
            <a:ext cx="10112587" cy="1896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Automated Failure Attribution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 분야 제안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 오류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(Decisive Error)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 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Who &amp; When Benchmark Dataset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구축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Automated Failure Attribution Method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Evaluation Metric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6BD0F-111D-4908-BAEC-4828D8789BA5}"/>
              </a:ext>
            </a:extLst>
          </p:cNvPr>
          <p:cNvSpPr txBox="1"/>
          <p:nvPr/>
        </p:nvSpPr>
        <p:spPr>
          <a:xfrm>
            <a:off x="640080" y="3862299"/>
            <a:ext cx="10112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</a:t>
            </a:r>
            <a:r>
              <a:rPr lang="ko-KR" altLang="en-US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 오류</a:t>
            </a:r>
            <a:r>
              <a:rPr lang="en-US" altLang="ko-KR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 </a:t>
            </a:r>
            <a:r>
              <a:rPr lang="ko-KR" altLang="en-US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시점의 에이전트의 행동을 수정했을 때</a:t>
            </a:r>
            <a:r>
              <a:rPr lang="en-US" altLang="ko-KR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작업이 실패에서 성공으로 바뀌는 가장 빠른 시점</a:t>
            </a:r>
            <a:endParaRPr lang="en-US" altLang="ko-KR" sz="12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E79FF4E-9805-41EF-854A-C3F00F98F671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766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97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76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1016909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8CC8838B-D2E7-4636-B1D0-063E72BFB595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Who &amp; When Dataset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구축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E14B3-460C-4EB1-B141-8B658642BE83}"/>
              </a:ext>
            </a:extLst>
          </p:cNvPr>
          <p:cNvSpPr txBox="1"/>
          <p:nvPr/>
        </p:nvSpPr>
        <p:spPr>
          <a:xfrm>
            <a:off x="640079" y="1574417"/>
            <a:ext cx="10112587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명의 전문가가 수작업으로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로그로부터 결정적 오류 단계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</a:t>
            </a:r>
            <a:r>
              <a:rPr lang="ko-KR" altLang="en-US" sz="1600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라벨링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 길이가 긴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Hand Crafted,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짧은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Algorithm Generated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구성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B1BB75-12B1-4789-8A25-B35D6BEE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35" y="2307033"/>
            <a:ext cx="10849862" cy="4065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74CC67-73E6-4D59-8614-9523B1E026C4}"/>
              </a:ext>
            </a:extLst>
          </p:cNvPr>
          <p:cNvSpPr txBox="1"/>
          <p:nvPr/>
        </p:nvSpPr>
        <p:spPr>
          <a:xfrm>
            <a:off x="1280160" y="3649363"/>
            <a:ext cx="824654" cy="145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A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B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C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D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E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D2682-9A0A-47D0-BFBF-F3EB4B7ED8C4}"/>
              </a:ext>
            </a:extLst>
          </p:cNvPr>
          <p:cNvSpPr txBox="1"/>
          <p:nvPr/>
        </p:nvSpPr>
        <p:spPr>
          <a:xfrm>
            <a:off x="3515805" y="3569855"/>
            <a:ext cx="82465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D04FBF-EF02-49C3-A902-E9410480BCF5}"/>
              </a:ext>
            </a:extLst>
          </p:cNvPr>
          <p:cNvSpPr txBox="1"/>
          <p:nvPr/>
        </p:nvSpPr>
        <p:spPr>
          <a:xfrm>
            <a:off x="3515805" y="4383410"/>
            <a:ext cx="82465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58A9D-7825-40C9-B5EC-48E44C0849E5}"/>
              </a:ext>
            </a:extLst>
          </p:cNvPr>
          <p:cNvSpPr txBox="1"/>
          <p:nvPr/>
        </p:nvSpPr>
        <p:spPr>
          <a:xfrm>
            <a:off x="3515805" y="5274142"/>
            <a:ext cx="82465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D157A-905C-426B-BCAB-643BFEB9B568}"/>
              </a:ext>
            </a:extLst>
          </p:cNvPr>
          <p:cNvSpPr txBox="1"/>
          <p:nvPr/>
        </p:nvSpPr>
        <p:spPr>
          <a:xfrm>
            <a:off x="4467752" y="4428744"/>
            <a:ext cx="8246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Uncertain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409EAC-9966-4E1C-A94B-2127EF1802AD}"/>
              </a:ext>
            </a:extLst>
          </p:cNvPr>
          <p:cNvSpPr txBox="1"/>
          <p:nvPr/>
        </p:nvSpPr>
        <p:spPr>
          <a:xfrm>
            <a:off x="4467752" y="5319476"/>
            <a:ext cx="8246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Uncertain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3E21E-DA75-4F12-8E7A-3F49406344EE}"/>
              </a:ext>
            </a:extLst>
          </p:cNvPr>
          <p:cNvSpPr txBox="1"/>
          <p:nvPr/>
        </p:nvSpPr>
        <p:spPr>
          <a:xfrm>
            <a:off x="4467752" y="3608271"/>
            <a:ext cx="8246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Uncertain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56DE80B-8341-4329-96DF-86A52CA787B4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766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97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76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1016909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8CC8838B-D2E7-4636-B1D0-063E72BFB595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Who &amp; When Dataset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구축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E14B3-460C-4EB1-B141-8B658642BE83}"/>
              </a:ext>
            </a:extLst>
          </p:cNvPr>
          <p:cNvSpPr txBox="1"/>
          <p:nvPr/>
        </p:nvSpPr>
        <p:spPr>
          <a:xfrm>
            <a:off x="640079" y="1574417"/>
            <a:ext cx="10112587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  <a:endParaRPr lang="ko-KR" altLang="en-US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B1BB75-12B1-4789-8A25-B35D6BEE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35" y="2140777"/>
            <a:ext cx="10849862" cy="4065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74CC67-73E6-4D59-8614-9523B1E026C4}"/>
              </a:ext>
            </a:extLst>
          </p:cNvPr>
          <p:cNvSpPr txBox="1"/>
          <p:nvPr/>
        </p:nvSpPr>
        <p:spPr>
          <a:xfrm>
            <a:off x="1280160" y="3483107"/>
            <a:ext cx="824654" cy="145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A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B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C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D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E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D2682-9A0A-47D0-BFBF-F3EB4B7ED8C4}"/>
              </a:ext>
            </a:extLst>
          </p:cNvPr>
          <p:cNvSpPr txBox="1"/>
          <p:nvPr/>
        </p:nvSpPr>
        <p:spPr>
          <a:xfrm>
            <a:off x="3515805" y="3403599"/>
            <a:ext cx="824654" cy="29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 Found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D04FBF-EF02-49C3-A902-E9410480BCF5}"/>
              </a:ext>
            </a:extLst>
          </p:cNvPr>
          <p:cNvSpPr txBox="1"/>
          <p:nvPr/>
        </p:nvSpPr>
        <p:spPr>
          <a:xfrm>
            <a:off x="3515805" y="4217154"/>
            <a:ext cx="824654" cy="29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 Found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58A9D-7825-40C9-B5EC-48E44C0849E5}"/>
              </a:ext>
            </a:extLst>
          </p:cNvPr>
          <p:cNvSpPr txBox="1"/>
          <p:nvPr/>
        </p:nvSpPr>
        <p:spPr>
          <a:xfrm>
            <a:off x="3515805" y="5107886"/>
            <a:ext cx="824654" cy="29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 Found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D157A-905C-426B-BCAB-643BFEB9B568}"/>
              </a:ext>
            </a:extLst>
          </p:cNvPr>
          <p:cNvSpPr txBox="1"/>
          <p:nvPr/>
        </p:nvSpPr>
        <p:spPr>
          <a:xfrm>
            <a:off x="4484686" y="3386665"/>
            <a:ext cx="824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Decisive Error Found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41B9E-95D2-4247-8AD6-94FAA6C0B982}"/>
              </a:ext>
            </a:extLst>
          </p:cNvPr>
          <p:cNvSpPr txBox="1"/>
          <p:nvPr/>
        </p:nvSpPr>
        <p:spPr>
          <a:xfrm>
            <a:off x="4484686" y="4205933"/>
            <a:ext cx="824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Decisive Error Found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CE635B-0689-497C-B1BB-A23DB73C6261}"/>
              </a:ext>
            </a:extLst>
          </p:cNvPr>
          <p:cNvSpPr txBox="1"/>
          <p:nvPr/>
        </p:nvSpPr>
        <p:spPr>
          <a:xfrm>
            <a:off x="4484686" y="5095826"/>
            <a:ext cx="824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Decisive Error Found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48EA8B-51FD-44A6-A3C3-83FBDEC0ED77}"/>
              </a:ext>
            </a:extLst>
          </p:cNvPr>
          <p:cNvSpPr/>
          <p:nvPr/>
        </p:nvSpPr>
        <p:spPr>
          <a:xfrm>
            <a:off x="690435" y="2170812"/>
            <a:ext cx="10849862" cy="4182457"/>
          </a:xfrm>
          <a:prstGeom prst="rect">
            <a:avLst/>
          </a:prstGeom>
          <a:solidFill>
            <a:schemeClr val="bg2">
              <a:lumMod val="7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63651A3-10A7-4023-B97E-A60BB5E58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13" y="2272414"/>
            <a:ext cx="12007487" cy="3232785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B49C6F8D-7024-4520-ABE2-3F1A90749679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7287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766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97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76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1016909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8CC8838B-D2E7-4636-B1D0-063E72BFB595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Automated Failure Attribution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E14B3-460C-4EB1-B141-8B658642BE83}"/>
              </a:ext>
            </a:extLst>
          </p:cNvPr>
          <p:cNvSpPr txBox="1"/>
          <p:nvPr/>
        </p:nvSpPr>
        <p:spPr>
          <a:xfrm>
            <a:off x="640079" y="1574417"/>
            <a:ext cx="10112587" cy="115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All At Once: MAS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로그를 한번에 입력하여 결정적 오류 추론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by Step: MAS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로그를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단위로 점진적 입력하여 결정적 오류 추론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Binary Search: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이진 탐색하여 결정적 오류 추론</a:t>
            </a:r>
          </a:p>
        </p:txBody>
      </p:sp>
      <p:sp>
        <p:nvSpPr>
          <p:cNvPr id="20" name="Google Shape;84;p35">
            <a:extLst>
              <a:ext uri="{FF2B5EF4-FFF2-40B4-BE49-F238E27FC236}">
                <a16:creationId xmlns:a16="http://schemas.microsoft.com/office/drawing/2014/main" id="{F55B9AE4-7E21-4092-BA9C-342E8D520E4B}"/>
              </a:ext>
            </a:extLst>
          </p:cNvPr>
          <p:cNvSpPr txBox="1"/>
          <p:nvPr/>
        </p:nvSpPr>
        <p:spPr>
          <a:xfrm>
            <a:off x="640080" y="2886046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Evaluation Metrics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E58C0F-F39F-4667-93E2-FCB848B6581F}"/>
              </a:ext>
            </a:extLst>
          </p:cNvPr>
          <p:cNvSpPr txBox="1"/>
          <p:nvPr/>
        </p:nvSpPr>
        <p:spPr>
          <a:xfrm>
            <a:off x="640079" y="3382068"/>
            <a:ext cx="10112587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Agent-level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Step-level Accuracy</a:t>
            </a:r>
            <a:endParaRPr lang="ko-KR" altLang="en-US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A6CAC51-1A2F-472B-90E4-4C5C5FD3DD91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86032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095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09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095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결과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942073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DA3F0BE3-8BE0-4F94-84B6-42721E014706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Overall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76B9A-96B4-436D-83B0-2282EFE6927B}"/>
              </a:ext>
            </a:extLst>
          </p:cNvPr>
          <p:cNvSpPr txBox="1"/>
          <p:nvPr/>
        </p:nvSpPr>
        <p:spPr>
          <a:xfrm>
            <a:off x="640079" y="1574417"/>
            <a:ext cx="10112587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7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Agent-Level Accuracy Relies on Large Receptive 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9F49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Fine-Grained Predictions Boost Better Step-Level Accuracy</a:t>
            </a:r>
            <a:endParaRPr lang="ko-KR" altLang="en-US" sz="1600" dirty="0">
              <a:solidFill>
                <a:srgbClr val="9F49F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6075B74-A47A-4E64-B4D1-8C23094B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760" y="2455230"/>
            <a:ext cx="8684810" cy="353983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A65ACE-DD68-4A74-8647-D861E705F9D4}"/>
              </a:ext>
            </a:extLst>
          </p:cNvPr>
          <p:cNvSpPr/>
          <p:nvPr/>
        </p:nvSpPr>
        <p:spPr>
          <a:xfrm>
            <a:off x="1741430" y="3964827"/>
            <a:ext cx="8709140" cy="27265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F5A16D-AD88-4F58-85CF-D0C1AD742978}"/>
              </a:ext>
            </a:extLst>
          </p:cNvPr>
          <p:cNvSpPr/>
          <p:nvPr/>
        </p:nvSpPr>
        <p:spPr>
          <a:xfrm>
            <a:off x="1765760" y="4925635"/>
            <a:ext cx="8684810" cy="272654"/>
          </a:xfrm>
          <a:prstGeom prst="rect">
            <a:avLst/>
          </a:prstGeom>
          <a:noFill/>
          <a:ln w="19050">
            <a:solidFill>
              <a:srgbClr val="9F49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E61B19B-403C-4DD0-B5D6-4761C386AC1D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095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09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095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결과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942073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DA3F0BE3-8BE0-4F94-84B6-42721E014706}"/>
              </a:ext>
            </a:extLst>
          </p:cNvPr>
          <p:cNvSpPr txBox="1"/>
          <p:nvPr/>
        </p:nvSpPr>
        <p:spPr>
          <a:xfrm>
            <a:off x="640080" y="1078395"/>
            <a:ext cx="420901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Robustness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4F019F1-3435-4FFC-8104-80DE7A2E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28" y="1618411"/>
            <a:ext cx="4140543" cy="2153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84;p35">
            <a:extLst>
              <a:ext uri="{FF2B5EF4-FFF2-40B4-BE49-F238E27FC236}">
                <a16:creationId xmlns:a16="http://schemas.microsoft.com/office/drawing/2014/main" id="{71719325-44A5-42A8-83B5-1454FCEF7E67}"/>
              </a:ext>
            </a:extLst>
          </p:cNvPr>
          <p:cNvSpPr txBox="1"/>
          <p:nvPr/>
        </p:nvSpPr>
        <p:spPr>
          <a:xfrm>
            <a:off x="640080" y="3908557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Performance Across Varying Context Lengths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A945D87-8C4C-4E48-B960-ADF4DB6C3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28" y="4448573"/>
            <a:ext cx="4874468" cy="20890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96903B4-3298-4AC4-A090-868E4EC07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87000"/>
            <a:ext cx="5239468" cy="16766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84;p35">
            <a:extLst>
              <a:ext uri="{FF2B5EF4-FFF2-40B4-BE49-F238E27FC236}">
                <a16:creationId xmlns:a16="http://schemas.microsoft.com/office/drawing/2014/main" id="{D0FB4E82-A065-439C-819E-94E46E86F5AF}"/>
              </a:ext>
            </a:extLst>
          </p:cNvPr>
          <p:cNvSpPr txBox="1"/>
          <p:nvPr/>
        </p:nvSpPr>
        <p:spPr>
          <a:xfrm>
            <a:off x="6096000" y="1078395"/>
            <a:ext cx="4451927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Accuracy Tolerance Analysis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9435AF7-AC6B-4356-B55C-D806B35EE2BE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9440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906" y="347713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73906" y="3477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13986" y="2745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— 결국 무엇을 얻었는가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13986" y="731761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종합한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3906" y="115022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1604" y="1692844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A23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성과</a:t>
            </a:r>
            <a:r>
              <a:rPr lang="en-US" altLang="ko-KR" sz="1600" dirty="0">
                <a:solidFill>
                  <a:srgbClr val="1A23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MAS</a:t>
            </a:r>
            <a:r>
              <a:rPr lang="ko-KR" altLang="en-US" sz="1600" dirty="0">
                <a:solidFill>
                  <a:srgbClr val="1A23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오류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귀인을 자동화하는 최초의 벤치마크와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방법을 제시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문제의 실현 가능성과 어려움을 동시에 입증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수치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최고 성능도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Step-level Accuracy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기준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14.2%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불가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SOTA Model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 개선하지 못함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연구분야에 남긴 의미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 귀인을 연구 문제로 공식화하여 향후 연구의 기준점 및 방향 제시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Google Shape;84;p35">
            <a:extLst>
              <a:ext uri="{FF2B5EF4-FFF2-40B4-BE49-F238E27FC236}">
                <a16:creationId xmlns:a16="http://schemas.microsoft.com/office/drawing/2014/main" id="{77B6372F-7AA9-4BB8-9569-B808DC715E5E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Result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C82EA5F-BE87-4E1B-B3C4-06DE33917955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9843" y="301752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9843" y="301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9923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 및 적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9923" y="685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연구에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가져갈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것,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altLang="ko-KR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altLang="ko-KR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주의할</a:t>
            </a:r>
            <a:r>
              <a:rPr lang="en-US" altLang="ko-KR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</a:t>
            </a:r>
            <a:endParaRPr lang="en-US" alt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549843" y="1092227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1604" y="1736088"/>
            <a:ext cx="10908792" cy="1253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Who &amp; When Dataset: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Failure Attribution Method Code: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25168764-DEAF-456A-A6B5-7412CB367C4D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데이터 및 코드 공개 여부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2" name="Google Shape;84;p35">
            <a:extLst>
              <a:ext uri="{FF2B5EF4-FFF2-40B4-BE49-F238E27FC236}">
                <a16:creationId xmlns:a16="http://schemas.microsoft.com/office/drawing/2014/main" id="{E97D401C-6C5E-492E-9550-4A810D5C8F37}"/>
              </a:ext>
            </a:extLst>
          </p:cNvPr>
          <p:cNvSpPr txBox="1"/>
          <p:nvPr/>
        </p:nvSpPr>
        <p:spPr>
          <a:xfrm>
            <a:off x="640080" y="2510809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고려해야 할 점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7013045-67BD-40E5-B373-B24C0FE999C1}"/>
              </a:ext>
            </a:extLst>
          </p:cNvPr>
          <p:cNvSpPr/>
          <p:nvPr/>
        </p:nvSpPr>
        <p:spPr>
          <a:xfrm>
            <a:off x="641604" y="2986922"/>
            <a:ext cx="10908792" cy="81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논문에서의 실험 결과는 공개되어 있지 않음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재현을 위해서는 재실행 필요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논문의 성능과 소폭 차이를 보임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데이터셋의 규모가 작기에 통계적 일반화 주장에 한계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아키텍처 및 구조의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환경에서 수집된 로그가 아님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BCEF7CB-E36C-4B0D-BCB6-214A0B7AA658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8916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8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57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토의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329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논의하고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싶은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17596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701505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</a:t>
            </a: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]: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연구는 여러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 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있다면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이른 시점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 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결정적 오류로 정의하고 해당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만을 식별함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이른 시점 탐색이 항상 옳은 것인가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2 ]: “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오류 발생 지점의 한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고치면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나머지는 자동으로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Correct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하게 바뀐다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전제조건으로 삼고 있음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</a:t>
            </a:r>
            <a:r>
              <a:rPr lang="ko-KR" altLang="en-US" sz="160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현실적인 전제조건인가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아니라면 다른 방법이 있는지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3 ]: Ground Truth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입력으로 줬을 때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귀인 성능이 더 높게 나옴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환경에서는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GT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없고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로그만 있는 상황이 대부분일 텐데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논문에서 제시하는 개선 대부분이 비현실적 세팅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(w/ GT)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아닌가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AD76E6-9D31-42D5-8FCF-325092E3896D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8916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8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57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Appendix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7329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/>
              <a:t>Who &amp; When Pro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217596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9622B1-AA61-40D1-AB99-65F0529C9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820" y="1629077"/>
            <a:ext cx="6091433" cy="40757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C9E0B021-99BE-49FF-BE75-B671451C6D56}"/>
              </a:ext>
            </a:extLst>
          </p:cNvPr>
          <p:cNvSpPr/>
          <p:nvPr/>
        </p:nvSpPr>
        <p:spPr>
          <a:xfrm>
            <a:off x="641604" y="1290748"/>
            <a:ext cx="10908792" cy="139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Successful Trajectory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 step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Error Injection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T-1 Step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까지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Trajectory Replay, T+1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부터 재실행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작업이 실패로 끝나면 벤치마크에 포함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Post-filtering: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구상 흔적 제거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12,326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실패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Trace(Text 51%, Image 42%, Video 7%)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GPT-4.1, Gemini 3 Flash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F97FAC0-DC2B-45D1-B7CC-54A16A2276E1}"/>
              </a:ext>
            </a:extLst>
          </p:cNvPr>
          <p:cNvSpPr/>
          <p:nvPr/>
        </p:nvSpPr>
        <p:spPr>
          <a:xfrm>
            <a:off x="11658600" y="644652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528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901</Words>
  <Application>Microsoft Office PowerPoint</Application>
  <PresentationFormat>와이드스크린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Lucida Grande</vt:lpstr>
      <vt:lpstr>Pretendard</vt:lpstr>
      <vt:lpstr>나눔고딕</vt:lpstr>
      <vt:lpstr>나눔고딕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26</cp:revision>
  <dcterms:created xsi:type="dcterms:W3CDTF">2026-08-21T15:48:17Z</dcterms:created>
  <dcterms:modified xsi:type="dcterms:W3CDTF">2026-08-24T14:43:43Z</dcterms:modified>
</cp:coreProperties>
</file>