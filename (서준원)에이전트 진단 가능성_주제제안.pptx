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367" r:id="rId2"/>
    <p:sldId id="502" r:id="rId3"/>
    <p:sldId id="304" r:id="rId4"/>
    <p:sldId id="273" r:id="rId5"/>
    <p:sldId id="308" r:id="rId6"/>
    <p:sldId id="350" r:id="rId7"/>
    <p:sldId id="349" r:id="rId8"/>
    <p:sldId id="506" r:id="rId9"/>
    <p:sldId id="507" r:id="rId10"/>
    <p:sldId id="508" r:id="rId11"/>
    <p:sldId id="509" r:id="rId12"/>
    <p:sldId id="510" r:id="rId13"/>
    <p:sldId id="505" r:id="rId14"/>
    <p:sldId id="503" r:id="rId15"/>
    <p:sldId id="504" r:id="rId16"/>
    <p:sldId id="511" r:id="rId17"/>
    <p:sldId id="512" r:id="rId18"/>
    <p:sldId id="513" r:id="rId19"/>
    <p:sldId id="514" r:id="rId20"/>
    <p:sldId id="534" r:id="rId21"/>
    <p:sldId id="516" r:id="rId22"/>
    <p:sldId id="517" r:id="rId23"/>
    <p:sldId id="529" r:id="rId24"/>
    <p:sldId id="518" r:id="rId25"/>
    <p:sldId id="531" r:id="rId26"/>
    <p:sldId id="519" r:id="rId27"/>
    <p:sldId id="520" r:id="rId28"/>
    <p:sldId id="535" r:id="rId29"/>
    <p:sldId id="351" r:id="rId30"/>
    <p:sldId id="533" r:id="rId31"/>
    <p:sldId id="536" r:id="rId32"/>
    <p:sldId id="521" r:id="rId33"/>
    <p:sldId id="522" r:id="rId34"/>
    <p:sldId id="523" r:id="rId35"/>
    <p:sldId id="524" r:id="rId36"/>
    <p:sldId id="525" r:id="rId37"/>
    <p:sldId id="526" r:id="rId38"/>
    <p:sldId id="527" r:id="rId39"/>
    <p:sldId id="528" r:id="rId40"/>
    <p:sldId id="306" r:id="rId41"/>
    <p:sldId id="272" r:id="rId42"/>
    <p:sldId id="532" r:id="rId43"/>
  </p:sldIdLst>
  <p:sldSz cx="18288000" cy="10287000"/>
  <p:notesSz cx="6858000" cy="9144000"/>
  <p:embeddedFontLst>
    <p:embeddedFont>
      <p:font typeface="Cambria Math" panose="02040503050406030204" pitchFamily="18" charset="0"/>
      <p:regular r:id="rId46"/>
    </p:embeddedFont>
    <p:embeddedFont>
      <p:font typeface="Pretendard" panose="02000503000000020004" pitchFamily="2" charset="-127"/>
      <p:regular r:id="rId47"/>
      <p:bold r:id="rId48"/>
    </p:embeddedFont>
    <p:embeddedFont>
      <p:font typeface="맑은 고딕" panose="020B0503020000020004" pitchFamily="50" charset="-127"/>
      <p:regular r:id="rId49"/>
      <p:bold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5581"/>
    <a:srgbClr val="435A8A"/>
    <a:srgbClr val="DAE3F4"/>
    <a:srgbClr val="D9D9D9"/>
    <a:srgbClr val="FFFF00"/>
    <a:srgbClr val="7D6D60"/>
    <a:srgbClr val="F37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58" autoAdjust="0"/>
    <p:restoredTop sz="97823" autoAdjust="0"/>
  </p:normalViewPr>
  <p:slideViewPr>
    <p:cSldViewPr>
      <p:cViewPr varScale="1">
        <p:scale>
          <a:sx n="107" d="100"/>
          <a:sy n="107" d="100"/>
        </p:scale>
        <p:origin x="79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3864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8DA2B8C-FE80-4CDC-8776-BAEAEE4A70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339F65-0D8D-487C-AF0B-F236B2F742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D1A633-2927-480D-B7C4-7B01C5C00B68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CC95C6-02AE-48E7-B19A-550286F0996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5EA635-E1DE-490B-B7CE-DB20222906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B7D969-FBFF-4FB7-B686-D87A0B00B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958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0C0D15-7A08-400D-B594-8DAAC8E761D0}" type="datetimeFigureOut">
              <a:rPr lang="ko-KR" altLang="en-US" smtClean="0"/>
              <a:t>2026-09-16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03428B-2FA1-44CF-BC53-48F3845A2E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867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A7F2-2A86-2ADE-24E3-A8CAC64E8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2F2D87-1D9C-707E-E3D6-6FB89AB21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489FA8D-E93E-AC47-D455-BF230A13A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AB6439-4FDC-7B5A-2105-86A8929553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03428B-2FA1-44CF-BC53-48F3845A2E8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77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654093F-AFA3-4E24-A59D-9CE966CC0AD6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154400" y="9921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641DEF0-B72D-4DCE-AB7B-FE288E78300F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2CFC56E-1E0F-4882-BC87-CCF0DB0463A0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95EC926-782C-4CE2-8CE0-0308C5889F8E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54208A5B-A8CA-4007-BEC1-0D0530AB026F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C72CC1A-09C9-4DE6-B285-7C95BFE55035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2245AE6-3BDF-47DE-B28E-70AB53437294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449800" y="9791700"/>
            <a:ext cx="736600" cy="365125"/>
          </a:xfrm>
        </p:spPr>
        <p:txBody>
          <a:bodyPr/>
          <a:lstStyle>
            <a:lvl1pPr>
              <a:defRPr sz="2000" b="1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757BA9D-9666-432B-90DC-B56186BEECB8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5F99EF0-7DDB-4A7D-9BCC-F3CC24AF459C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810DE24-09BD-40A6-85BA-D72FC373D55C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C8B7F58-F35D-4BAB-BF6D-6BEAF0B2511E}" type="datetime1">
              <a:rPr lang="en-US" altLang="ko-KR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9600" y="9105901"/>
            <a:ext cx="2133600" cy="9636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00" b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&lt;##&gt;</a:t>
            </a:r>
          </a:p>
        </p:txBody>
      </p:sp>
      <p:pic>
        <p:nvPicPr>
          <p:cNvPr id="4" name="Google Shape;52;p1">
            <a:extLst>
              <a:ext uri="{FF2B5EF4-FFF2-40B4-BE49-F238E27FC236}">
                <a16:creationId xmlns:a16="http://schemas.microsoft.com/office/drawing/2014/main" id="{F537BA67-93E6-4D74-A10E-860A0E3D08EA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76200" y="9925591"/>
            <a:ext cx="1961606" cy="28784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6C5C-212C-0E03-6B4B-E807735E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4172820E-AD83-66E3-8129-16FB0242D395}"/>
              </a:ext>
            </a:extLst>
          </p:cNvPr>
          <p:cNvSpPr txBox="1"/>
          <p:nvPr/>
        </p:nvSpPr>
        <p:spPr>
          <a:xfrm>
            <a:off x="6480312" y="8420100"/>
            <a:ext cx="5327374" cy="427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ko-KR" altLang="en-US" sz="2400" b="1" dirty="0">
                <a:latin typeface="+mn-ea"/>
                <a:cs typeface="Pretendard SemiBold" panose="02000703000000020004" pitchFamily="50" charset="-127"/>
                <a:sym typeface="Garet Light"/>
              </a:rPr>
              <a:t>서준원</a:t>
            </a:r>
            <a:endParaRPr lang="en-US" sz="2400" b="1" dirty="0">
              <a:latin typeface="+mn-ea"/>
              <a:cs typeface="Pretendard SemiBold" panose="02000703000000020004" pitchFamily="50" charset="-127"/>
              <a:sym typeface="Garet Light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2546203-0F4F-10B7-3A6D-AE1229B5793E}"/>
              </a:ext>
            </a:extLst>
          </p:cNvPr>
          <p:cNvSpPr txBox="1"/>
          <p:nvPr/>
        </p:nvSpPr>
        <p:spPr>
          <a:xfrm>
            <a:off x="723899" y="4076700"/>
            <a:ext cx="16840200" cy="1024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ko-KR" sz="4000" b="1" dirty="0"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</a:rPr>
              <a:t>LLM </a:t>
            </a:r>
            <a:r>
              <a:rPr lang="ko-KR" altLang="ko-KR" sz="4000" b="1" dirty="0" err="1"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</a:rPr>
              <a:t>멀티에이전트</a:t>
            </a:r>
            <a:r>
              <a:rPr lang="ko-KR" altLang="ko-KR" sz="4000" b="1" dirty="0"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</a:rPr>
              <a:t> 실행 로그의 진단가능성 정의 및 측정 </a:t>
            </a:r>
            <a:endParaRPr lang="en-US" altLang="ko-KR" sz="4000" b="1" dirty="0">
              <a:latin typeface="Pretendard" panose="02000803000000020004" pitchFamily="50" charset="-127"/>
              <a:ea typeface="Pretendard" panose="02000803000000020004" pitchFamily="50" charset="-127"/>
              <a:cs typeface="Pretendard" panose="0200080300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b="1" spc="-103" dirty="0">
                <a:latin typeface="+mn-ea"/>
                <a:cs typeface="Pretendard" panose="02000803000000020004" pitchFamily="50" charset="-127"/>
              </a:rPr>
              <a:t>연구 주제 제안</a:t>
            </a:r>
            <a:endParaRPr lang="en-US" altLang="ko-KR" sz="2000" b="1" spc="-103" dirty="0">
              <a:latin typeface="+mn-ea"/>
              <a:cs typeface="Pretendard" panose="02000803000000020004" pitchFamily="50" charset="-127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312E5C3-CED8-D17D-17DC-85D2257287DD}"/>
              </a:ext>
            </a:extLst>
          </p:cNvPr>
          <p:cNvSpPr txBox="1"/>
          <p:nvPr/>
        </p:nvSpPr>
        <p:spPr>
          <a:xfrm>
            <a:off x="8116325" y="7514829"/>
            <a:ext cx="2055348" cy="4271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b="1" dirty="0">
                <a:latin typeface="+mn-ea"/>
                <a:cs typeface="Pretendard SemiBold" panose="02000703000000020004" pitchFamily="50" charset="-127"/>
                <a:sym typeface="Garet Light"/>
              </a:rPr>
              <a:t>202</a:t>
            </a:r>
            <a:r>
              <a:rPr lang="en-US" altLang="ko-KR" sz="2599" b="1" dirty="0">
                <a:latin typeface="+mn-ea"/>
                <a:cs typeface="Pretendard SemiBold" panose="02000703000000020004" pitchFamily="50" charset="-127"/>
                <a:sym typeface="Garet Light"/>
              </a:rPr>
              <a:t>6.09.17</a:t>
            </a:r>
            <a:endParaRPr lang="en-US" sz="2599" b="1" dirty="0">
              <a:latin typeface="+mn-ea"/>
              <a:cs typeface="Pretendard SemiBold" panose="02000703000000020004" pitchFamily="50" charset="-127"/>
              <a:sym typeface="Garet Light"/>
            </a:endParaRPr>
          </a:p>
        </p:txBody>
      </p:sp>
    </p:spTree>
    <p:extLst>
      <p:ext uri="{BB962C8B-B14F-4D97-AF65-F5344CB8AC3E}">
        <p14:creationId xmlns:p14="http://schemas.microsoft.com/office/powerpoint/2010/main" val="4183137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228602" y="266701"/>
            <a:ext cx="2438189" cy="746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90"/>
              </a:lnSpc>
              <a:spcBef>
                <a:spcPct val="0"/>
              </a:spcBef>
            </a:pPr>
            <a:r>
              <a:rPr lang="en-US" sz="3600" b="1" spc="-65" dirty="0">
                <a:solidFill>
                  <a:srgbClr val="191919"/>
                </a:solidFill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  <a:sym typeface="윤고딕"/>
              </a:rPr>
              <a:t>Summary</a:t>
            </a:r>
            <a:endParaRPr lang="en-US" sz="3200" b="1" spc="-65" dirty="0">
              <a:solidFill>
                <a:srgbClr val="191919"/>
              </a:solidFill>
              <a:latin typeface="Pretendard" panose="02000803000000020004" pitchFamily="50" charset="-127"/>
              <a:ea typeface="Pretendard" panose="02000803000000020004" pitchFamily="50" charset="-127"/>
              <a:cs typeface="Pretendard" panose="02000803000000020004" pitchFamily="50" charset="-127"/>
              <a:sym typeface="윤고딕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19A541DD-AE84-48B8-BEE3-52AEEE0A39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953899"/>
              </p:ext>
            </p:extLst>
          </p:nvPr>
        </p:nvGraphicFramePr>
        <p:xfrm>
          <a:off x="1440873" y="2324100"/>
          <a:ext cx="15406254" cy="6071410"/>
        </p:xfrm>
        <a:graphic>
          <a:graphicData uri="http://schemas.openxmlformats.org/drawingml/2006/table">
            <a:tbl>
              <a:tblPr/>
              <a:tblGrid>
                <a:gridCol w="3274353">
                  <a:extLst>
                    <a:ext uri="{9D8B030D-6E8A-4147-A177-3AD203B41FA5}">
                      <a16:colId xmlns:a16="http://schemas.microsoft.com/office/drawing/2014/main" val="4254056337"/>
                    </a:ext>
                  </a:extLst>
                </a:gridCol>
                <a:gridCol w="12131901">
                  <a:extLst>
                    <a:ext uri="{9D8B030D-6E8A-4147-A177-3AD203B41FA5}">
                      <a16:colId xmlns:a16="http://schemas.microsoft.com/office/drawing/2014/main" val="733628405"/>
                    </a:ext>
                  </a:extLst>
                </a:gridCol>
              </a:tblGrid>
              <a:tr h="90215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803000000020004" pitchFamily="50" charset="-127"/>
                          <a:ea typeface="Pretendard" panose="02000803000000020004" pitchFamily="50" charset="-127"/>
                          <a:cs typeface="Pretendard" panose="02000803000000020004" pitchFamily="50" charset="-127"/>
                        </a:rPr>
                        <a:t>연구 주제</a:t>
                      </a:r>
                      <a:endParaRPr lang="ko-KR" altLang="en-US" sz="1700" b="1" dirty="0">
                        <a:effectLst/>
                        <a:latin typeface="Pretendard" panose="02000803000000020004" pitchFamily="50" charset="-127"/>
                        <a:ea typeface="Pretendard" panose="02000803000000020004" pitchFamily="50" charset="-127"/>
                        <a:cs typeface="Pretendard" panose="02000803000000020004" pitchFamily="50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ko-KR" sz="1600" dirty="0"/>
                        <a:t>LLM </a:t>
                      </a:r>
                      <a:r>
                        <a:rPr lang="ko-KR" altLang="ko-KR" sz="1600" dirty="0" err="1"/>
                        <a:t>멀티에이전트</a:t>
                      </a:r>
                      <a:r>
                        <a:rPr lang="ko-KR" altLang="ko-KR" sz="1600" dirty="0"/>
                        <a:t> 실행 로그의 진단가능성(</a:t>
                      </a:r>
                      <a:r>
                        <a:rPr lang="ko-KR" altLang="ko-KR" sz="1600" dirty="0" err="1"/>
                        <a:t>Diagnosability</a:t>
                      </a:r>
                      <a:r>
                        <a:rPr lang="ko-KR" altLang="ko-KR" sz="1600" dirty="0"/>
                        <a:t>) 정의 및 측정</a:t>
                      </a:r>
                      <a:r>
                        <a:rPr lang="ko-KR" altLang="en-US" sz="1600" dirty="0"/>
                        <a:t>방법론 제안</a:t>
                      </a:r>
                      <a:endParaRPr lang="ko-KR" altLang="en-US" sz="17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736236"/>
                  </a:ext>
                </a:extLst>
              </a:tr>
              <a:tr h="94963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803000000020004" pitchFamily="50" charset="-127"/>
                          <a:ea typeface="Pretendard" panose="02000803000000020004" pitchFamily="50" charset="-127"/>
                          <a:cs typeface="Pretendard" panose="02000803000000020004" pitchFamily="50" charset="-127"/>
                        </a:rPr>
                        <a:t>문제</a:t>
                      </a:r>
                      <a:endParaRPr lang="ko-KR" altLang="en-US" sz="1700" b="1" dirty="0">
                        <a:effectLst/>
                        <a:latin typeface="Pretendard" panose="02000803000000020004" pitchFamily="50" charset="-127"/>
                        <a:ea typeface="Pretendard" panose="02000803000000020004" pitchFamily="50" charset="-127"/>
                        <a:cs typeface="Pretendard" panose="02000803000000020004" pitchFamily="50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ko-KR" sz="1600" dirty="0"/>
                        <a:t>기존 오류 분류 체계는 오류의 정의를 제공하나, 각 오류를 판단하는 데 필요한 로그 정보는 제시하지 않음</a:t>
                      </a:r>
                      <a:endParaRPr lang="ko-KR" altLang="en-US" sz="17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031396"/>
                  </a:ext>
                </a:extLst>
              </a:tr>
              <a:tr h="147192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803000000020004" pitchFamily="50" charset="-127"/>
                          <a:ea typeface="Pretendard" panose="02000803000000020004" pitchFamily="50" charset="-127"/>
                          <a:cs typeface="Pretendard" panose="02000803000000020004" pitchFamily="50" charset="-127"/>
                        </a:rPr>
                        <a:t>연구 질문</a:t>
                      </a:r>
                      <a:endParaRPr lang="ko-KR" altLang="en-US" sz="1700" b="1" dirty="0">
                        <a:effectLst/>
                        <a:latin typeface="Pretendard" panose="02000803000000020004" pitchFamily="50" charset="-127"/>
                        <a:ea typeface="Pretendard" panose="02000803000000020004" pitchFamily="50" charset="-127"/>
                        <a:cs typeface="Pretendard" panose="02000803000000020004" pitchFamily="50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7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ko-KR" sz="1600" dirty="0"/>
                        <a:t>실행 로그가 오류 판단에 필요한 정보를 담고 있는 정도를 어떻게 </a:t>
                      </a:r>
                      <a:r>
                        <a:rPr lang="ko-KR" altLang="ko-KR" sz="1600" dirty="0" err="1"/>
                        <a:t>정의·측정하며</a:t>
                      </a:r>
                      <a:r>
                        <a:rPr lang="ko-KR" altLang="ko-KR" sz="1600" dirty="0"/>
                        <a:t>, 그 정도는 오류 귀인 성능과 어떤 관계를 갖는가</a:t>
                      </a:r>
                      <a:endParaRPr lang="ko-KR" altLang="en-US" sz="17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099841"/>
                  </a:ext>
                </a:extLst>
              </a:tr>
              <a:tr h="139446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803000000020004" pitchFamily="50" charset="-127"/>
                          <a:ea typeface="Pretendard" panose="02000803000000020004" pitchFamily="50" charset="-127"/>
                          <a:cs typeface="Pretendard" panose="02000803000000020004" pitchFamily="50" charset="-127"/>
                        </a:rPr>
                        <a:t>제안 방법</a:t>
                      </a:r>
                      <a:endParaRPr lang="ko-KR" altLang="en-US" sz="1700" b="1" dirty="0">
                        <a:effectLst/>
                        <a:latin typeface="Pretendard" panose="02000803000000020004" pitchFamily="50" charset="-127"/>
                        <a:ea typeface="Pretendard" panose="02000803000000020004" pitchFamily="50" charset="-127"/>
                        <a:cs typeface="Pretendard" panose="02000803000000020004" pitchFamily="50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1600" dirty="0"/>
                        <a:t>오류 분류 체계 4종을 종합한 3계층 18항목 진단 체크리스</a:t>
                      </a:r>
                      <a:r>
                        <a:rPr lang="ko-KR" altLang="en-US" sz="1600" dirty="0"/>
                        <a:t>트를 통해 </a:t>
                      </a:r>
                      <a:r>
                        <a:rPr lang="ko-KR" altLang="ko-KR" sz="1600" dirty="0"/>
                        <a:t>진단가능성 </a:t>
                      </a:r>
                      <a:r>
                        <a:rPr lang="ko-KR" altLang="ko-KR" sz="1600" dirty="0" err="1"/>
                        <a:t>D</a:t>
                      </a:r>
                      <a:r>
                        <a:rPr lang="ko-KR" altLang="ko-KR" sz="1600" dirty="0"/>
                        <a:t> 산출</a:t>
                      </a:r>
                      <a:endParaRPr lang="ko-KR" altLang="en-US" sz="1700" b="0" i="0" u="none" strike="noStrike" kern="1200" dirty="0">
                        <a:solidFill>
                          <a:schemeClr val="tx1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5513866"/>
                  </a:ext>
                </a:extLst>
              </a:tr>
              <a:tr h="135322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" panose="02000803000000020004" pitchFamily="50" charset="-127"/>
                          <a:ea typeface="Pretendard" panose="02000803000000020004" pitchFamily="50" charset="-127"/>
                          <a:cs typeface="Pretendard" panose="02000803000000020004" pitchFamily="50" charset="-127"/>
                        </a:rPr>
                        <a:t>실험 계획</a:t>
                      </a:r>
                      <a:endParaRPr lang="ko-KR" altLang="en-US" sz="1700" b="1" dirty="0">
                        <a:effectLst/>
                        <a:latin typeface="Pretendard" panose="02000803000000020004" pitchFamily="50" charset="-127"/>
                        <a:ea typeface="Pretendard" panose="02000803000000020004" pitchFamily="50" charset="-127"/>
                        <a:cs typeface="Pretendard" panose="02000803000000020004" pitchFamily="50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-171450" algn="l" defTabSz="914400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600" dirty="0"/>
                        <a:t>실험 1 — 동일 로그와 노이즈 주입 로그의 </a:t>
                      </a:r>
                      <a:r>
                        <a:rPr lang="ko-KR" altLang="ko-KR" sz="1600" dirty="0" err="1"/>
                        <a:t>진단가능성·귀인</a:t>
                      </a:r>
                      <a:r>
                        <a:rPr lang="ko-KR" altLang="ko-KR" sz="1600" dirty="0"/>
                        <a:t> 성능 비교  </a:t>
                      </a:r>
                      <a:endParaRPr lang="en-US" altLang="ko-KR" sz="1600" dirty="0"/>
                    </a:p>
                    <a:p>
                      <a:pPr marL="0" indent="-171450" algn="l" defTabSz="914400" rtl="0" eaLnBrk="1" fontAlgn="base" latinLnBrk="1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ko-KR" sz="1600" dirty="0"/>
                        <a:t>실험 2 — 벤치마크 </a:t>
                      </a:r>
                      <a:r>
                        <a:rPr lang="en-US" altLang="ko-KR" sz="1600" dirty="0"/>
                        <a:t>3</a:t>
                      </a:r>
                      <a:r>
                        <a:rPr lang="ko-KR" altLang="ko-KR" sz="1600" dirty="0"/>
                        <a:t>종의 진단가능성과 귀인 정확도의 관계 평가</a:t>
                      </a:r>
                      <a:endParaRPr lang="en-US" sz="1700" b="0" i="0" u="none" strike="noStrike" kern="1200" dirty="0">
                        <a:solidFill>
                          <a:srgbClr val="000000"/>
                        </a:solidFill>
                        <a:effectLst/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6060" marR="56060" marT="28031" marB="28031" anchor="ctr">
                    <a:lnL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851688"/>
                  </a:ext>
                </a:extLst>
              </a:tr>
            </a:tbl>
          </a:graphicData>
        </a:graphic>
      </p:graphicFrame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19F572-A87B-4010-A414-D7A350A64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AutoShape 14">
            <a:extLst>
              <a:ext uri="{FF2B5EF4-FFF2-40B4-BE49-F238E27FC236}">
                <a16:creationId xmlns:a16="http://schemas.microsoft.com/office/drawing/2014/main" id="{F079EC1D-6536-A88A-CC3F-9D356CCB9480}"/>
              </a:ext>
            </a:extLst>
          </p:cNvPr>
          <p:cNvSpPr/>
          <p:nvPr/>
        </p:nvSpPr>
        <p:spPr>
          <a:xfrm>
            <a:off x="2" y="419100"/>
            <a:ext cx="2666787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005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E7E5D96B-4DE6-4496-B826-462F7E68713F}"/>
              </a:ext>
            </a:extLst>
          </p:cNvPr>
          <p:cNvSpPr txBox="1"/>
          <p:nvPr/>
        </p:nvSpPr>
        <p:spPr>
          <a:xfrm>
            <a:off x="533400" y="1638300"/>
            <a:ext cx="11506200" cy="54746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en-US" altLang="ko-KR" sz="26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Introduction </a:t>
            </a: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Related</a:t>
            </a:r>
            <a:r>
              <a:rPr lang="ko-KR" altLang="ko-KR" sz="26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Work</a:t>
            </a:r>
            <a:endParaRPr lang="en-US" altLang="ko-KR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altLang="ko-KR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Methodology</a:t>
            </a: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26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Expected</a:t>
            </a:r>
            <a:r>
              <a:rPr lang="ko-KR" altLang="ko-KR" sz="26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Contributions</a:t>
            </a:r>
            <a:endParaRPr lang="en-US" altLang="ko-KR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  <a:p>
            <a:pPr marL="51435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r>
              <a:rPr lang="ko-KR" altLang="ko-KR" sz="26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Appendix</a:t>
            </a:r>
            <a:endParaRPr lang="en-US" altLang="ko-KR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514350" lvl="0" indent="-514350">
              <a:lnSpc>
                <a:spcPts val="3639"/>
              </a:lnSpc>
              <a:spcBef>
                <a:spcPct val="0"/>
              </a:spcBef>
              <a:buAutoNum type="arabicPeriod"/>
            </a:pPr>
            <a:endParaRPr lang="en-US" sz="26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aret Light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F6B326D-0BB7-4A1F-B7B8-ABB02421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4A756-AB79-6A40-2DBB-6F7811780FF0}"/>
              </a:ext>
            </a:extLst>
          </p:cNvPr>
          <p:cNvSpPr txBox="1"/>
          <p:nvPr/>
        </p:nvSpPr>
        <p:spPr>
          <a:xfrm>
            <a:off x="71718" y="204405"/>
            <a:ext cx="2138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   Contents</a:t>
            </a:r>
          </a:p>
        </p:txBody>
      </p:sp>
      <p:sp>
        <p:nvSpPr>
          <p:cNvPr id="4" name="AutoShape 14">
            <a:extLst>
              <a:ext uri="{FF2B5EF4-FFF2-40B4-BE49-F238E27FC236}">
                <a16:creationId xmlns:a16="http://schemas.microsoft.com/office/drawing/2014/main" id="{35106059-A8CD-E592-E789-7384BE0E7AF6}"/>
              </a:ext>
            </a:extLst>
          </p:cNvPr>
          <p:cNvSpPr/>
          <p:nvPr/>
        </p:nvSpPr>
        <p:spPr>
          <a:xfrm>
            <a:off x="1" y="419100"/>
            <a:ext cx="213359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725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5E39AAC0-54C8-43AB-8E12-2215A8B18737}"/>
              </a:ext>
            </a:extLst>
          </p:cNvPr>
          <p:cNvSpPr txBox="1"/>
          <p:nvPr/>
        </p:nvSpPr>
        <p:spPr>
          <a:xfrm>
            <a:off x="228600" y="1138929"/>
            <a:ext cx="7239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1.1 LLM </a:t>
            </a:r>
            <a:r>
              <a:rPr lang="ko-KR" altLang="en-US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멀티에이전트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D5CA76F-43AC-40D8-B057-8515760A78A8}"/>
              </a:ext>
            </a:extLst>
          </p:cNvPr>
          <p:cNvSpPr txBox="1"/>
          <p:nvPr/>
        </p:nvSpPr>
        <p:spPr>
          <a:xfrm>
            <a:off x="1143000" y="2095500"/>
            <a:ext cx="12013806" cy="49957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LLM의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발전에 따라 이를 추론 엔진으로 활용하는 에이전트 연구가 활발히 진행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b="1" dirty="0">
              <a:latin typeface="+mn-ea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여러 모듈의 결합으로 구성되는 LLM 에이전트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 - </a:t>
            </a:r>
            <a:r>
              <a:rPr lang="ko-KR" altLang="ko-KR" dirty="0">
                <a:latin typeface="+mn-ea"/>
              </a:rPr>
              <a:t>계획(</a:t>
            </a:r>
            <a:r>
              <a:rPr lang="ko-KR" altLang="ko-KR" dirty="0" err="1">
                <a:latin typeface="+mn-ea"/>
              </a:rPr>
              <a:t>planning</a:t>
            </a:r>
            <a:r>
              <a:rPr lang="ko-KR" altLang="ko-KR" dirty="0">
                <a:latin typeface="+mn-ea"/>
              </a:rPr>
              <a:t>) · 메모리(</a:t>
            </a:r>
            <a:r>
              <a:rPr lang="ko-KR" altLang="ko-KR" dirty="0" err="1">
                <a:latin typeface="+mn-ea"/>
              </a:rPr>
              <a:t>memory</a:t>
            </a:r>
            <a:r>
              <a:rPr lang="ko-KR" altLang="ko-KR" dirty="0">
                <a:latin typeface="+mn-ea"/>
              </a:rPr>
              <a:t>) · 반</a:t>
            </a:r>
            <a:r>
              <a:rPr lang="ko-KR" altLang="en-US" dirty="0">
                <a:latin typeface="+mn-ea"/>
              </a:rPr>
              <a:t>성</a:t>
            </a:r>
            <a:r>
              <a:rPr lang="ko-KR" altLang="ko-KR" dirty="0">
                <a:latin typeface="+mn-ea"/>
              </a:rPr>
              <a:t>(</a:t>
            </a:r>
            <a:r>
              <a:rPr lang="ko-KR" altLang="ko-KR" dirty="0" err="1">
                <a:latin typeface="+mn-ea"/>
              </a:rPr>
              <a:t>reflection</a:t>
            </a:r>
            <a:r>
              <a:rPr lang="ko-KR" altLang="ko-KR" dirty="0">
                <a:latin typeface="+mn-ea"/>
              </a:rPr>
              <a:t>) · 도구 사용(</a:t>
            </a:r>
            <a:r>
              <a:rPr lang="ko-KR" altLang="ko-KR" dirty="0" err="1">
                <a:latin typeface="+mn-ea"/>
              </a:rPr>
              <a:t>tool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use</a:t>
            </a:r>
            <a:r>
              <a:rPr lang="ko-KR" altLang="ko-KR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 - </a:t>
            </a:r>
            <a:r>
              <a:rPr lang="ko-KR" altLang="ko-KR" dirty="0">
                <a:latin typeface="+mn-ea"/>
              </a:rPr>
              <a:t>각 모듈이 서로 다른 판단을 담당하며 순차적으로 개입</a:t>
            </a: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환경과의 상호작용을 통한 다단계 과제 수행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관찰 → 추론 → 행동의 반복으로 과제를 진행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외부 도구 · API 호출을 통해 환경 상태를 변경</a:t>
            </a:r>
            <a:endParaRPr lang="en-US" altLang="ko-KR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38F0D2-6B90-45C7-B44B-2DB7091F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10926-4F55-84D0-5FBD-57295A92DB2C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4" name="AutoShape 14">
            <a:extLst>
              <a:ext uri="{FF2B5EF4-FFF2-40B4-BE49-F238E27FC236}">
                <a16:creationId xmlns:a16="http://schemas.microsoft.com/office/drawing/2014/main" id="{1E7031DA-3916-F013-E20A-04529368B04A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0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608D3-53DC-6100-E19F-CE2B12E7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0922D26F-82BF-A32B-B8FC-2E761B91C11A}"/>
              </a:ext>
            </a:extLst>
          </p:cNvPr>
          <p:cNvSpPr txBox="1"/>
          <p:nvPr/>
        </p:nvSpPr>
        <p:spPr>
          <a:xfrm>
            <a:off x="228600" y="1138929"/>
            <a:ext cx="6096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1.2 </a:t>
            </a:r>
            <a:r>
              <a:rPr lang="ko-KR" altLang="en-US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멀티에이전트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시스템으로의 확장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8C7D383-FAB6-EF8D-2B44-F4943EE55A2F}"/>
              </a:ext>
            </a:extLst>
          </p:cNvPr>
          <p:cNvSpPr txBox="1"/>
          <p:nvPr/>
        </p:nvSpPr>
        <p:spPr>
          <a:xfrm>
            <a:off x="1219200" y="2095500"/>
            <a:ext cx="15468600" cy="3918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여러 에이전트가 협력하는 </a:t>
            </a:r>
            <a:r>
              <a:rPr lang="ko-KR" altLang="en-US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멀티에이전트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시스템의 등장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여러 에이전트가 역할을 분담하고 메시지를 주고받으며 협력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다양한 분야에서 복잡한 과제를 해결하는 데 활용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복잡한 </a:t>
            </a:r>
            <a:r>
              <a:rPr lang="en-US" altLang="ko-KR" dirty="0">
                <a:latin typeface="+mn-ea"/>
              </a:rPr>
              <a:t>TASK</a:t>
            </a:r>
            <a:r>
              <a:rPr lang="ko-KR" altLang="en-US" dirty="0">
                <a:latin typeface="+mn-ea"/>
              </a:rPr>
              <a:t>를 실행하며 실행 과정이 길고 복잡해짐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과제 수행에 실패하는 경우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빈번하게 관찰됨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→ 시스템이 왜 실패하는지에 대한 체계적 분석이 요구됨</a:t>
            </a:r>
            <a:endParaRPr lang="en-US" altLang="ko-KR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103DF5-E6D2-332C-32B6-716A9B6B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B41D8A-42A7-C97B-E957-72BB80023FE0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A83D8E3C-CEAF-2673-68C0-E56318BD7167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199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10D0E-6877-2F84-0C5A-CDCEE7025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60345DED-F3A6-9BB0-48D5-0A3B221D1278}"/>
              </a:ext>
            </a:extLst>
          </p:cNvPr>
          <p:cNvSpPr txBox="1"/>
          <p:nvPr/>
        </p:nvSpPr>
        <p:spPr>
          <a:xfrm>
            <a:off x="228600" y="1138929"/>
            <a:ext cx="57912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1.3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오류의 전파와 실행 로그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17F5907-B552-C26B-D2E8-6F861322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FAD4F731-22DF-257D-21EB-5DC4B32A61E6}"/>
              </a:ext>
            </a:extLst>
          </p:cNvPr>
          <p:cNvSpPr txBox="1"/>
          <p:nvPr/>
        </p:nvSpPr>
        <p:spPr>
          <a:xfrm>
            <a:off x="1143000" y="2095500"/>
            <a:ext cx="12013806" cy="5549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단계별 오류의 전파로 인한 최종 과제 실패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앞 단계의 오류가 뒤 단계의 판단에 그대로 영향을 미침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단계가 긴 과제일수록 회복이 어려움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수행 과정의 각 단계가 실행 로그로 기록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추론 내용, 도구 호출과 응답, 관찰 결과, 에이전트 간 메시지 등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로그를 확인하여 실패 원인을 사람이 직접 찾는 데 드는 비용이 큼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분석 대상 </a:t>
            </a:r>
            <a:r>
              <a:rPr lang="ko-KR" altLang="ko-KR" dirty="0" err="1">
                <a:latin typeface="+mn-ea"/>
              </a:rPr>
              <a:t>trace가</a:t>
            </a:r>
            <a:r>
              <a:rPr lang="ko-KR" altLang="ko-KR" dirty="0">
                <a:latin typeface="+mn-ea"/>
              </a:rPr>
              <a:t> 건당 수천 줄 이상에 이름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도구 출력과 모델 추론이 뒤섞여 일반적인 소프트웨어 디버깅보다 어려움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68A9F5-DDDE-9918-608B-5AB778DB577E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34317430-7BE3-1368-F1A0-A4354CF6EE06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7" name="그림 6" descr="review-image">
            <a:extLst>
              <a:ext uri="{FF2B5EF4-FFF2-40B4-BE49-F238E27FC236}">
                <a16:creationId xmlns:a16="http://schemas.microsoft.com/office/drawing/2014/main" id="{6E8E3A9E-7059-4F78-EAC8-2E3060B2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3202" y="2441496"/>
            <a:ext cx="5051798" cy="599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342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A2E6-184D-EAD9-72B8-E5EB68B18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6AC1AC23-EB80-B793-DE88-D5E0075792D6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1.4 LLMAS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귀인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Failure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Attribution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연구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들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0294994-45DA-3D6F-25CE-46F0852C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9DCBCAE1-A7E1-B210-D51E-81AE1D828020}"/>
              </a:ext>
            </a:extLst>
          </p:cNvPr>
          <p:cNvSpPr txBox="1"/>
          <p:nvPr/>
        </p:nvSpPr>
        <p:spPr>
          <a:xfrm>
            <a:off x="1143000" y="2095500"/>
            <a:ext cx="14020800" cy="6099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귀인 — 실행 로그를 근거로 책임 에이전트(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who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)와 결정적 오류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when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)을 자동 식별하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 위해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 err="1">
                <a:latin typeface="+mn-ea"/>
              </a:rPr>
              <a:t>Who&amp;When</a:t>
            </a:r>
            <a:r>
              <a:rPr lang="ko-KR" altLang="ko-KR" dirty="0">
                <a:latin typeface="+mn-ea"/>
              </a:rPr>
              <a:t> (</a:t>
            </a:r>
            <a:r>
              <a:rPr lang="ko-KR" altLang="ko-KR" dirty="0" err="1">
                <a:latin typeface="+mn-ea"/>
              </a:rPr>
              <a:t>Zhang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et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al</a:t>
            </a:r>
            <a:r>
              <a:rPr lang="ko-KR" altLang="ko-KR" dirty="0">
                <a:latin typeface="+mn-ea"/>
              </a:rPr>
              <a:t>., ICML 2025)에서 처음</a:t>
            </a:r>
            <a:r>
              <a:rPr lang="ko-KR" altLang="en-US" dirty="0">
                <a:latin typeface="+mn-ea"/>
              </a:rPr>
              <a:t>으로</a:t>
            </a:r>
            <a:r>
              <a:rPr lang="ko-KR" altLang="ko-KR" dirty="0">
                <a:latin typeface="+mn-ea"/>
              </a:rPr>
              <a:t> 정식화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127개 </a:t>
            </a:r>
            <a:r>
              <a:rPr lang="ko-KR" altLang="ko-KR" dirty="0" err="1">
                <a:latin typeface="+mn-ea"/>
              </a:rPr>
              <a:t>멀티에이전트</a:t>
            </a:r>
            <a:r>
              <a:rPr lang="ko-KR" altLang="ko-KR" dirty="0">
                <a:latin typeface="+mn-ea"/>
              </a:rPr>
              <a:t> 시스템의 실패 로그에 </a:t>
            </a:r>
            <a:r>
              <a:rPr lang="ko-KR" altLang="ko-KR" dirty="0" err="1">
                <a:latin typeface="+mn-ea"/>
              </a:rPr>
              <a:t>who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when</a:t>
            </a:r>
            <a:r>
              <a:rPr lang="ko-KR" altLang="ko-KR" dirty="0">
                <a:latin typeface="+mn-ea"/>
              </a:rPr>
              <a:t> 주석 부여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사람이 긴 로그를 직접 읽어 원인을 찾던 과정을 대체하려는 시도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그러나 보고된 정확도는 아직 낮은 수준에 머무름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 err="1">
                <a:latin typeface="+mn-ea"/>
              </a:rPr>
              <a:t>Who&amp;When</a:t>
            </a:r>
            <a:r>
              <a:rPr lang="ko-KR" altLang="ko-KR" dirty="0">
                <a:latin typeface="+mn-ea"/>
              </a:rPr>
              <a:t> — </a:t>
            </a:r>
            <a:r>
              <a:rPr lang="ko-KR" altLang="ko-KR" dirty="0" err="1">
                <a:latin typeface="+mn-ea"/>
              </a:rPr>
              <a:t>agent-level</a:t>
            </a:r>
            <a:r>
              <a:rPr lang="ko-KR" altLang="ko-KR" dirty="0">
                <a:latin typeface="+mn-ea"/>
              </a:rPr>
              <a:t> 53.5%, </a:t>
            </a:r>
            <a:r>
              <a:rPr lang="ko-KR" altLang="ko-KR" dirty="0" err="1">
                <a:latin typeface="+mn-ea"/>
              </a:rPr>
              <a:t>step-level</a:t>
            </a:r>
            <a:r>
              <a:rPr lang="ko-KR" altLang="ko-KR" dirty="0">
                <a:latin typeface="+mn-ea"/>
              </a:rPr>
              <a:t> 14.2%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TRAIL — 최고 성능 모델의 정확도 11% 수준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AgentFail</a:t>
            </a:r>
            <a:r>
              <a:rPr lang="ko-KR" altLang="ko-KR" dirty="0">
                <a:latin typeface="+mn-ea"/>
              </a:rPr>
              <a:t> — 근본 원인 식별 정확도 최대 33.6%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단위 조정, 탐색 범위 확장 등 정확도를 개선하는 후속 연구가 이어짐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A3728-E2CB-17AF-CD87-8FA93469DFF0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1E2A4527-320B-044A-FB36-15F2487990B9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0659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5279-6AE9-2783-2435-4174619C5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3E772D5F-B693-3DAE-561D-86816A58E05F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1.5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연구  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6F5D92-C2D9-8412-FE42-2D0FB86C7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BBF71DDE-8775-A2BA-81A8-1418B4C081CB}"/>
              </a:ext>
            </a:extLst>
          </p:cNvPr>
          <p:cNvSpPr txBox="1"/>
          <p:nvPr/>
        </p:nvSpPr>
        <p:spPr>
          <a:xfrm>
            <a:off x="1143000" y="2095500"/>
            <a:ext cx="12013806" cy="6103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귀인과 함께, 에이전트의 오류를 구분 · 정의하는 오류 분류 체계 연구도 진행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대상과 분류 구조가 서로 다른 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Taxonomy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들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MAST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멀티에이전트</a:t>
            </a:r>
            <a:r>
              <a:rPr lang="ko-KR" altLang="ko-KR" dirty="0">
                <a:latin typeface="+mn-ea"/>
              </a:rPr>
              <a:t> 시스템 실패 / 3범주 14 실패 모드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TRAIL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ko-KR" dirty="0">
                <a:latin typeface="+mn-ea"/>
              </a:rPr>
              <a:t> 에이전트 워크플로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오류 / 3범주 20개 이상 유형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AET </a:t>
            </a:r>
            <a:r>
              <a:rPr lang="en-US" altLang="ko-KR" dirty="0">
                <a:latin typeface="+mn-ea"/>
              </a:rPr>
              <a:t>: </a:t>
            </a:r>
            <a:r>
              <a:rPr lang="ko-KR" altLang="ko-KR" dirty="0">
                <a:latin typeface="+mn-ea"/>
              </a:rPr>
              <a:t>에이전트 모듈 단위 오류 / 5모듈 17 유형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AgentFail</a:t>
            </a:r>
            <a:r>
              <a:rPr lang="ko-KR" altLang="ko-KR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:</a:t>
            </a:r>
            <a:r>
              <a:rPr lang="ko-KR" altLang="ko-KR" dirty="0">
                <a:latin typeface="+mn-ea"/>
              </a:rPr>
              <a:t> 플랫폼 기반 시스템의 실패 근본 원인 / 3계층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Taxonomy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서로 다른 시스템과 데이터에서 도출되어 대상 범위가 상이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 - </a:t>
            </a:r>
            <a:r>
              <a:rPr lang="ko-KR" altLang="ko-KR" dirty="0">
                <a:latin typeface="+mn-ea"/>
              </a:rPr>
              <a:t>하나의 체계만으로는 포함되지 않는 오류 유형이 존재</a:t>
            </a:r>
            <a:r>
              <a:rPr lang="ko-KR" altLang="en-US" dirty="0">
                <a:latin typeface="+mn-ea"/>
              </a:rPr>
              <a:t>할 수 있음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b="1" dirty="0">
                <a:latin typeface="+mn-ea"/>
              </a:rPr>
              <a:t>     </a:t>
            </a:r>
            <a:r>
              <a:rPr lang="ko-KR" altLang="ko-KR" b="1" dirty="0">
                <a:latin typeface="+mn-ea"/>
              </a:rPr>
              <a:t>→ 단일 체계를 진단 기준으로 삼기 어려움</a:t>
            </a:r>
            <a:r>
              <a:rPr lang="en-US" altLang="ko-KR" b="1" dirty="0">
                <a:latin typeface="+mn-ea"/>
              </a:rPr>
              <a:t> </a:t>
            </a:r>
            <a:endParaRPr lang="ko-KR" altLang="ko-KR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0BE29B-38B0-619B-C5A4-801191CEC454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5253CF4A-DB75-51CE-04B0-36B07592E3D2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661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5E0A0-C15A-4EF7-AEC3-E0DD0046D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11CEB896-D768-28C0-E87A-254EFF67E14F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1.6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문제 제기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: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실행 로그 진단 기준의 부재  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6D581B-8D93-1431-A282-466CDAC4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A658FA39-9DC9-6A33-5210-2C64C9D895A7}"/>
              </a:ext>
            </a:extLst>
          </p:cNvPr>
          <p:cNvSpPr txBox="1"/>
          <p:nvPr/>
        </p:nvSpPr>
        <p:spPr>
          <a:xfrm>
            <a:off x="1143000" y="2095500"/>
            <a:ext cx="12013806" cy="54882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기존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분류 체계는 오류의 정의를 제공하나, 그 오류를 로그에서 어떻게 확인할지는 다루지 않음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판단하려는 오류 유형에 따라 로그에 필요한 정보가 서로 다름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sz="1600" dirty="0">
                <a:latin typeface="+mn-ea"/>
              </a:rPr>
              <a:t>    - ex) </a:t>
            </a:r>
            <a:r>
              <a:rPr lang="ko-KR" altLang="ko-KR" sz="1600" dirty="0">
                <a:latin typeface="+mn-ea"/>
              </a:rPr>
              <a:t>계획 위반 여부는 과제 명세, 도구 실패 여부는 가공 이전의 응답이 있어야 판단 가능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 정보량이 귀인 성능을 좌우한다는 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보고가 존재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전체 실행 로그가 출력 중심 로그 대비 귀인 정확도를 크게 개선 (</a:t>
            </a:r>
            <a:r>
              <a:rPr lang="ko-KR" altLang="ko-KR" dirty="0" err="1">
                <a:latin typeface="+mn-ea"/>
              </a:rPr>
              <a:t>TraceElephant</a:t>
            </a:r>
            <a:r>
              <a:rPr lang="ko-KR" altLang="ko-KR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단, 전체 대 출력만이라는 이분법적 비교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</a:t>
            </a: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결국 임의의 로그가 오류 판단에 충분한 정보를 담고 있는지를 사전에 확인할 기준이 없음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b="1" dirty="0">
                <a:solidFill>
                  <a:srgbClr val="0070C0"/>
                </a:solidFill>
                <a:latin typeface="+mn-ea"/>
              </a:rPr>
              <a:t>     </a:t>
            </a:r>
            <a:r>
              <a:rPr lang="ko-KR" altLang="ko-KR" b="1" dirty="0">
                <a:solidFill>
                  <a:srgbClr val="0070C0"/>
                </a:solidFill>
                <a:latin typeface="+mn-ea"/>
              </a:rPr>
              <a:t>→ 오류 유형별 필요 정보를 기준으로, 실행 로그로 확인 가능한 형태의 진단 기준이 필요</a:t>
            </a:r>
            <a:endParaRPr lang="en-US" altLang="ko-KR" b="1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914313-5F21-23EB-F408-AAF8458432D1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D3EA41BE-0AFE-661E-E7A7-AD07AEB5D650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262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4F4B-FDA7-15F7-C7EE-0AA9A737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CC94E894-0757-8C0E-00EE-9893F9E75BB8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1.7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연구 질문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A03A118-8E32-43A8-1D76-79E934823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1CC0AD5A-BA55-159C-751D-46ECB8756176}"/>
              </a:ext>
            </a:extLst>
          </p:cNvPr>
          <p:cNvSpPr txBox="1"/>
          <p:nvPr/>
        </p:nvSpPr>
        <p:spPr>
          <a:xfrm>
            <a:off x="1143000" y="2095500"/>
            <a:ext cx="14478000" cy="4688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로그가 오류 판단에 충분한지를 판별하려면, 그 정도를 먼저 정의하고 측정할 수 있어야 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RQ. 실행 로그가 오류 판단에 필요한 정보를 담고 있는 정도를 어떻게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정의·측정할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 있으며, 그 정도는 오류 귀인 성능과 어떤 관계를 갖는가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RQ1. 기존 오류 분류 체계를 로그로 판단 가능한 진단 항목으로 어떻게 종합할 것인가</a:t>
            </a:r>
            <a:r>
              <a:rPr lang="en-US" altLang="ko-KR" dirty="0">
                <a:latin typeface="+mn-ea"/>
              </a:rPr>
              <a:t>.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RQ2. 로그의 진단가능성을 어떻게 </a:t>
            </a:r>
            <a:r>
              <a:rPr lang="ko-KR" altLang="ko-KR" dirty="0" err="1">
                <a:latin typeface="+mn-ea"/>
              </a:rPr>
              <a:t>정량화할</a:t>
            </a:r>
            <a:r>
              <a:rPr lang="ko-KR" altLang="ko-KR" dirty="0">
                <a:latin typeface="+mn-ea"/>
              </a:rPr>
              <a:t> 것인가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RQ3. 진단가능성은 오류 귀인 성능과 </a:t>
            </a:r>
            <a:r>
              <a:rPr lang="ko-KR" altLang="en-US" dirty="0">
                <a:latin typeface="+mn-ea"/>
              </a:rPr>
              <a:t>어</a:t>
            </a:r>
            <a:r>
              <a:rPr lang="ko-KR" altLang="ko-KR" dirty="0">
                <a:latin typeface="+mn-ea"/>
              </a:rPr>
              <a:t>떤 관계를 갖</a:t>
            </a:r>
            <a:r>
              <a:rPr lang="ko-KR" altLang="en-US" dirty="0">
                <a:latin typeface="+mn-ea"/>
              </a:rPr>
              <a:t>는가</a:t>
            </a:r>
            <a:r>
              <a:rPr lang="en-US" altLang="ko-KR" dirty="0">
                <a:latin typeface="+mn-ea"/>
              </a:rPr>
              <a:t>.</a:t>
            </a:r>
            <a:endParaRPr lang="ko-KR" altLang="ko-KR" dirty="0">
              <a:latin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</a:t>
            </a:r>
            <a:endParaRPr lang="en-US" altLang="ko-KR" dirty="0">
              <a:latin typeface="+mn-ea"/>
              <a:sym typeface="윤고딕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b="1" dirty="0">
                <a:latin typeface="+mn-ea"/>
              </a:rPr>
              <a:t>→ RQ1 · RQ2는 측정 방법의 수립, RQ3은 그 지표가 실제로 유효한지의 검증에 해당</a:t>
            </a:r>
            <a:endParaRPr lang="en-US" altLang="ko-KR" b="1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6127C5-6204-E12B-882B-CC635927D858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D947B435-59E0-7DD7-2862-2235793BE619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5364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F7B28-1F17-23A5-EBA5-51D6DC76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F8F1DEF8-ED7B-74A3-D596-CD9D0796A125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1.8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Proposed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Approach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: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진단가능성 정의와 측정 방법론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FB649D-F06D-92C6-D094-5D608994E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48F3E308-6FE9-6FD8-7511-48AFF57076CC}"/>
              </a:ext>
            </a:extLst>
          </p:cNvPr>
          <p:cNvSpPr txBox="1"/>
          <p:nvPr/>
        </p:nvSpPr>
        <p:spPr>
          <a:xfrm>
            <a:off x="1143000" y="2095500"/>
            <a:ext cx="14478000" cy="52682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진단가능성(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diagnosability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정의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실행 로그가 오류 판단에 필요한 정보를 담고 있는 정도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진단가능성 측정을 위한 절차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  <a:sym typeface="윤고딕"/>
              </a:rPr>
              <a:t>    - </a:t>
            </a:r>
            <a:r>
              <a:rPr lang="ko-KR" altLang="ko-KR" dirty="0">
                <a:latin typeface="+mn-ea"/>
              </a:rPr>
              <a:t>기존 오류 분류 체계를 종합하여 진단 항목 구성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각 항목을 실행 로그로 판단할 수 있는 질문 형태로 구성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로그별 판단 가능 항목의 비율을 통한 진단가능성 산출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b="1" dirty="0">
                <a:latin typeface="+mn-ea"/>
              </a:rPr>
              <a:t>→ 귀인을 수행하기 전에 실행 로그의 진단가능성을 사전에 확인 가능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동일한 오류 귀인 방법론에서 진단가능성 수준에 따른 성능을 비교하여 유효성 검증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37E086-2E3B-0457-B745-378CDE8AFA1D}"/>
              </a:ext>
            </a:extLst>
          </p:cNvPr>
          <p:cNvSpPr txBox="1"/>
          <p:nvPr/>
        </p:nvSpPr>
        <p:spPr>
          <a:xfrm>
            <a:off x="-383241" y="190500"/>
            <a:ext cx="31286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Introduction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43B611C3-EDE4-910E-5D10-3D50830A0194}"/>
              </a:ext>
            </a:extLst>
          </p:cNvPr>
          <p:cNvSpPr/>
          <p:nvPr/>
        </p:nvSpPr>
        <p:spPr>
          <a:xfrm>
            <a:off x="2" y="419100"/>
            <a:ext cx="259528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112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205B6-4AED-3CBC-D601-5EDA521D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4C75A1FC-341C-8CF6-7E40-D91C3AA16B96}"/>
              </a:ext>
            </a:extLst>
          </p:cNvPr>
          <p:cNvSpPr txBox="1"/>
          <p:nvPr/>
        </p:nvSpPr>
        <p:spPr>
          <a:xfrm>
            <a:off x="228600" y="1138929"/>
            <a:ext cx="77724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2.1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개요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83E6E81E-DDEA-DE97-85F0-58D6950AD967}"/>
              </a:ext>
            </a:extLst>
          </p:cNvPr>
          <p:cNvSpPr txBox="1"/>
          <p:nvPr/>
        </p:nvSpPr>
        <p:spPr>
          <a:xfrm>
            <a:off x="1143000" y="2095500"/>
            <a:ext cx="12013806" cy="10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제안하는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진단 항목(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L1 · L2)은 아래 4개 오류 분류 체계를 근거로 구성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dirty="0">
                <a:latin typeface="+mn-ea"/>
              </a:rPr>
              <a:t>아래의 </a:t>
            </a:r>
            <a:r>
              <a:rPr lang="en-US" altLang="ko-KR" dirty="0">
                <a:latin typeface="+mn-ea"/>
              </a:rPr>
              <a:t>Taxonomy</a:t>
            </a:r>
            <a:r>
              <a:rPr lang="ko-KR" altLang="en-US" dirty="0">
                <a:latin typeface="+mn-ea"/>
              </a:rPr>
              <a:t>는 서로 다른 데이터에서 도출되어 포괄하는 오류의 범위가 상이</a:t>
            </a:r>
            <a:endParaRPr lang="en-US" altLang="ko-KR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C54AFE4-2222-2F51-82E9-0D098E344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3FBBD4-0050-32EF-086E-AC1329702E38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4" name="AutoShape 14">
            <a:extLst>
              <a:ext uri="{FF2B5EF4-FFF2-40B4-BE49-F238E27FC236}">
                <a16:creationId xmlns:a16="http://schemas.microsoft.com/office/drawing/2014/main" id="{AFB8D751-B49D-5CF9-2FB2-0F233AAEFFDE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graphicFrame>
        <p:nvGraphicFramePr>
          <p:cNvPr id="10" name="Table 12">
            <a:extLst>
              <a:ext uri="{FF2B5EF4-FFF2-40B4-BE49-F238E27FC236}">
                <a16:creationId xmlns:a16="http://schemas.microsoft.com/office/drawing/2014/main" id="{969B402F-1102-4419-3D5D-CF48C520D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17490"/>
              </p:ext>
            </p:extLst>
          </p:nvPr>
        </p:nvGraphicFramePr>
        <p:xfrm>
          <a:off x="1733550" y="5097947"/>
          <a:ext cx="14820900" cy="3810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206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1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체계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분류 체계 도출 데이터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분류 구조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MAST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7개 멀티에이전트 프레임워크 trace 1,600건 이상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3범주 / 14 실패 모드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TRAIL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GAIA · SWE-Bench trace 148건 (오류 841건)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3범주 / 20개 이상 유형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AET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ALFWorld · WebShop · GAIA 실패 궤적 200건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5모듈 / 17 유형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AgentFail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Dify · Coze 기반 시스템 실패 로그 307건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3계층 근본 원인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598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9BA58-B4BD-6567-DDC8-4F63BA793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18CFBC25-E94F-056A-CB7D-E2E349D9AB57}"/>
              </a:ext>
            </a:extLst>
          </p:cNvPr>
          <p:cNvSpPr txBox="1"/>
          <p:nvPr/>
        </p:nvSpPr>
        <p:spPr>
          <a:xfrm>
            <a:off x="228600" y="1138929"/>
            <a:ext cx="77724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2.2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: MAST (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Cemri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2025)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6DEFDC3E-0078-DF11-C49E-A99DFCFE6DC6}"/>
              </a:ext>
            </a:extLst>
          </p:cNvPr>
          <p:cNvSpPr txBox="1"/>
          <p:nvPr/>
        </p:nvSpPr>
        <p:spPr>
          <a:xfrm>
            <a:off x="1143000" y="2095500"/>
            <a:ext cx="12013806" cy="724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멀티에이전트</a:t>
            </a:r>
            <a:r>
              <a:rPr lang="ko-KR" altLang="ko-KR" dirty="0">
                <a:latin typeface="+mn-ea"/>
              </a:rPr>
              <a:t> 시스템이 왜 실패하는가를 실행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분석으로 규명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분류 체계 도출 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7개 </a:t>
            </a:r>
            <a:r>
              <a:rPr lang="ko-KR" altLang="ko-KR" dirty="0" err="1">
                <a:latin typeface="+mn-ea"/>
              </a:rPr>
              <a:t>멀티에이전트</a:t>
            </a:r>
            <a:r>
              <a:rPr lang="ko-KR" altLang="ko-KR" dirty="0">
                <a:latin typeface="+mn-ea"/>
              </a:rPr>
              <a:t> 프레임워크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실행에서</a:t>
            </a:r>
            <a:r>
              <a:rPr lang="ko-KR" altLang="ko-KR" dirty="0">
                <a:latin typeface="+mn-ea"/>
              </a:rPr>
              <a:t> 수집한 1,600건 이상의 주석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(MAST-Data)</a:t>
            </a: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이 중 150건 이상을 </a:t>
            </a:r>
            <a:r>
              <a:rPr lang="ko-KR" altLang="ko-KR" dirty="0" err="1">
                <a:latin typeface="+mn-ea"/>
              </a:rPr>
              <a:t>grounded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theory로</a:t>
            </a:r>
            <a:r>
              <a:rPr lang="ko-KR" altLang="ko-KR" dirty="0">
                <a:latin typeface="+mn-ea"/>
              </a:rPr>
              <a:t> 분석하여 분류 구조 도출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분류 구조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3개 상위 범주 / 14개 실패 모드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명세 관련 문제(</a:t>
            </a:r>
            <a:r>
              <a:rPr lang="ko-KR" altLang="ko-KR" dirty="0" err="1">
                <a:latin typeface="+mn-ea"/>
              </a:rPr>
              <a:t>specification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issues</a:t>
            </a:r>
            <a:r>
              <a:rPr lang="ko-KR" altLang="ko-KR" dirty="0">
                <a:latin typeface="+mn-ea"/>
              </a:rPr>
              <a:t>) · 에이전트 간 불일치(</a:t>
            </a:r>
            <a:r>
              <a:rPr lang="ko-KR" altLang="ko-KR" dirty="0" err="1">
                <a:latin typeface="+mn-ea"/>
              </a:rPr>
              <a:t>inter-agent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misalignment</a:t>
            </a:r>
            <a:r>
              <a:rPr lang="ko-KR" altLang="ko-KR" dirty="0">
                <a:latin typeface="+mn-ea"/>
              </a:rPr>
              <a:t>) · 과제 검증 실패(</a:t>
            </a:r>
            <a:r>
              <a:rPr lang="ko-KR" altLang="ko-KR" dirty="0" err="1">
                <a:latin typeface="+mn-ea"/>
              </a:rPr>
              <a:t>task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verification</a:t>
            </a:r>
            <a:r>
              <a:rPr lang="ko-KR" altLang="ko-KR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체크리스트 구성 항목으로 반영함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에이전트 간 상호작용 범주를 유일하게 포함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8884DD-3B8B-ADE5-8B84-7F188FC6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1BF926-2390-FF0C-5997-B3309F1B231E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D9903270-4908-B888-AB9E-C149C90C7218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5117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68AA-80BC-6E85-64EF-377A46E40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3BF70FDD-5663-F76C-D672-71681E27547C}"/>
              </a:ext>
            </a:extLst>
          </p:cNvPr>
          <p:cNvSpPr txBox="1"/>
          <p:nvPr/>
        </p:nvSpPr>
        <p:spPr>
          <a:xfrm>
            <a:off x="228600" y="1138929"/>
            <a:ext cx="77724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2.2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: MAST (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Cemri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2025)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3E53DBA-818A-7497-D151-058E398C3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D04319C-4BBD-4468-78CD-4BBB2C69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012" y="2705100"/>
            <a:ext cx="12117975" cy="62089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E4FEF0-DA28-FA29-256D-A05C1935A8D1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8CECF6F0-D6B4-112D-8295-AAC605261AF8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640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7912E-5879-5CA2-0019-6A0A175F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9C9535DC-9527-8BCE-C7AF-D4038D8367CB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2.3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② : TRAIL (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Deshpande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et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al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., 2025)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3647A0E0-EA2A-F9A8-CD60-12ECD0C72723}"/>
              </a:ext>
            </a:extLst>
          </p:cNvPr>
          <p:cNvSpPr txBox="1"/>
          <p:nvPr/>
        </p:nvSpPr>
        <p:spPr>
          <a:xfrm>
            <a:off x="1143000" y="2095500"/>
            <a:ext cx="12013806" cy="77965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에이전트 워크플로</a:t>
            </a:r>
            <a:r>
              <a:rPr lang="ko-KR" altLang="en-US" dirty="0">
                <a:latin typeface="+mn-ea"/>
              </a:rPr>
              <a:t>우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trace에</a:t>
            </a:r>
            <a:r>
              <a:rPr lang="ko-KR" altLang="ko-KR" dirty="0">
                <a:latin typeface="+mn-ea"/>
              </a:rPr>
              <a:t> 대한 확장 가능한 평가 방법의 필요성 제기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분류 체계 도출 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GAIA, SWE-</a:t>
            </a:r>
            <a:r>
              <a:rPr lang="ko-KR" altLang="ko-KR" dirty="0" err="1">
                <a:latin typeface="+mn-ea"/>
              </a:rPr>
              <a:t>Bench</a:t>
            </a:r>
            <a:r>
              <a:rPr lang="ko-KR" altLang="ko-KR" dirty="0">
                <a:latin typeface="+mn-ea"/>
              </a:rPr>
              <a:t> 기반 단일 · </a:t>
            </a:r>
            <a:r>
              <a:rPr lang="ko-KR" altLang="ko-KR" dirty="0" err="1">
                <a:latin typeface="+mn-ea"/>
              </a:rPr>
              <a:t>멀티에이전트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148건 / 오류 841건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OpenTelemetry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span</a:t>
            </a:r>
            <a:r>
              <a:rPr lang="ko-KR" altLang="ko-KR" dirty="0">
                <a:latin typeface="+mn-ea"/>
              </a:rPr>
              <a:t> 형식으로 구성 (약 1,987 </a:t>
            </a:r>
            <a:r>
              <a:rPr lang="ko-KR" altLang="ko-KR" dirty="0" err="1">
                <a:latin typeface="+mn-ea"/>
              </a:rPr>
              <a:t>span</a:t>
            </a:r>
            <a:r>
              <a:rPr lang="ko-KR" altLang="ko-KR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분류 구조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3개 상위 범주 / 20개 이상 세부 유형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sz="1400" dirty="0">
                <a:latin typeface="+mn-ea"/>
              </a:rPr>
              <a:t>    - </a:t>
            </a:r>
            <a:r>
              <a:rPr lang="ko-KR" altLang="ko-KR" sz="1400" dirty="0">
                <a:latin typeface="+mn-ea"/>
              </a:rPr>
              <a:t>추론 오류(</a:t>
            </a:r>
            <a:r>
              <a:rPr lang="ko-KR" altLang="ko-KR" sz="1400" dirty="0" err="1">
                <a:latin typeface="+mn-ea"/>
              </a:rPr>
              <a:t>reasoning</a:t>
            </a:r>
            <a:r>
              <a:rPr lang="ko-KR" altLang="ko-KR" sz="1400" dirty="0">
                <a:latin typeface="+mn-ea"/>
              </a:rPr>
              <a:t>) · 계획 및 협</a:t>
            </a:r>
            <a:r>
              <a:rPr lang="ko-KR" altLang="en-US" sz="1400" dirty="0">
                <a:latin typeface="+mn-ea"/>
              </a:rPr>
              <a:t>동</a:t>
            </a:r>
            <a:r>
              <a:rPr lang="ko-KR" altLang="ko-KR" sz="1400" dirty="0">
                <a:latin typeface="+mn-ea"/>
              </a:rPr>
              <a:t> 오류(</a:t>
            </a:r>
            <a:r>
              <a:rPr lang="ko-KR" altLang="ko-KR" sz="1400" dirty="0" err="1">
                <a:latin typeface="+mn-ea"/>
              </a:rPr>
              <a:t>planning</a:t>
            </a:r>
            <a:r>
              <a:rPr lang="ko-KR" altLang="ko-KR" sz="1400" dirty="0">
                <a:latin typeface="+mn-ea"/>
              </a:rPr>
              <a:t> &amp; </a:t>
            </a:r>
            <a:r>
              <a:rPr lang="ko-KR" altLang="ko-KR" sz="1400" dirty="0" err="1">
                <a:latin typeface="+mn-ea"/>
              </a:rPr>
              <a:t>coordination</a:t>
            </a:r>
            <a:r>
              <a:rPr lang="ko-KR" altLang="ko-KR" sz="1400" dirty="0">
                <a:latin typeface="+mn-ea"/>
              </a:rPr>
              <a:t>) · 시스템 실행 오류(</a:t>
            </a:r>
            <a:r>
              <a:rPr lang="ko-KR" altLang="ko-KR" sz="1400" dirty="0" err="1">
                <a:latin typeface="+mn-ea"/>
              </a:rPr>
              <a:t>system</a:t>
            </a:r>
            <a:r>
              <a:rPr lang="ko-KR" altLang="ko-KR" sz="1400" dirty="0">
                <a:latin typeface="+mn-ea"/>
              </a:rPr>
              <a:t> </a:t>
            </a:r>
            <a:r>
              <a:rPr lang="ko-KR" altLang="ko-KR" sz="1400" dirty="0" err="1">
                <a:latin typeface="+mn-ea"/>
              </a:rPr>
              <a:t>execution</a:t>
            </a:r>
            <a:r>
              <a:rPr lang="ko-KR" altLang="ko-KR" sz="1400" dirty="0">
                <a:latin typeface="+mn-ea"/>
              </a:rPr>
              <a:t>)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체크리스트 구성 항목으로 반영함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에이전트 간 상호작용 범주를 유일하게 포함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도구 · API 실행 계층 오류를 가장 세분화하여 다룸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4830D1B-2DFD-8B21-F091-456B41E0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1CD21D6-F3C8-B8BB-CCF3-D357D8D9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232" y="2614239"/>
            <a:ext cx="8065168" cy="64306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F162A6-9C0B-05FD-C6B9-7CA9C9FBF5E9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A9866031-28FB-10FF-C5CE-A9872ED87284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71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0BB12-58D0-9302-5916-AABE3344E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2C4BD69F-76C5-3559-C3E8-B69AC438C033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2.4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 :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AET (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gent Error Taxonomy)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00CFDBBC-D135-53FF-59D7-0BC9FFBEB4D0}"/>
              </a:ext>
            </a:extLst>
          </p:cNvPr>
          <p:cNvSpPr txBox="1"/>
          <p:nvPr/>
        </p:nvSpPr>
        <p:spPr>
          <a:xfrm>
            <a:off x="1143000" y="2095500"/>
            <a:ext cx="12013806" cy="724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오류 전파(</a:t>
            </a:r>
            <a:r>
              <a:rPr lang="ko-KR" altLang="ko-KR" dirty="0" err="1">
                <a:latin typeface="+mn-ea"/>
              </a:rPr>
              <a:t>error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propagation</a:t>
            </a:r>
            <a:r>
              <a:rPr lang="ko-KR" altLang="ko-KR" dirty="0">
                <a:latin typeface="+mn-ea"/>
              </a:rPr>
              <a:t>)를 병목으로 보고, 근본 원인 오류를 모듈 단위로 귀인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분류 체계 도출 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ALFWorld</a:t>
            </a:r>
            <a:r>
              <a:rPr lang="ko-KR" altLang="ko-KR" dirty="0">
                <a:latin typeface="+mn-ea"/>
              </a:rPr>
              <a:t> 100건, </a:t>
            </a:r>
            <a:r>
              <a:rPr lang="ko-KR" altLang="ko-KR" dirty="0" err="1">
                <a:latin typeface="+mn-ea"/>
              </a:rPr>
              <a:t>WebShop</a:t>
            </a:r>
            <a:r>
              <a:rPr lang="ko-KR" altLang="ko-KR" dirty="0">
                <a:latin typeface="+mn-ea"/>
              </a:rPr>
              <a:t> 50건, GAIA 50건 등 실패 궤적 200건 (</a:t>
            </a:r>
            <a:r>
              <a:rPr lang="ko-KR" altLang="ko-KR" dirty="0" err="1">
                <a:latin typeface="+mn-ea"/>
              </a:rPr>
              <a:t>AgentErrorBench</a:t>
            </a:r>
            <a:r>
              <a:rPr lang="ko-KR" altLang="ko-KR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의사결정 </a:t>
            </a:r>
            <a:r>
              <a:rPr lang="ko-KR" altLang="ko-KR" dirty="0" err="1">
                <a:latin typeface="+mn-ea"/>
              </a:rPr>
              <a:t>step</a:t>
            </a:r>
            <a:r>
              <a:rPr lang="ko-KR" altLang="ko-KR" dirty="0">
                <a:latin typeface="+mn-ea"/>
              </a:rPr>
              <a:t> 단위 주석, 근본 원인 최소 집합을 식별하도록 </a:t>
            </a:r>
            <a:r>
              <a:rPr lang="ko-KR" altLang="en-US" dirty="0">
                <a:latin typeface="+mn-ea"/>
              </a:rPr>
              <a:t>구성하였다고 밝힘</a:t>
            </a:r>
            <a:r>
              <a:rPr lang="en-US" altLang="ko-KR" dirty="0">
                <a:latin typeface="+mn-ea"/>
              </a:rPr>
              <a:t>. </a:t>
            </a:r>
            <a:endParaRPr lang="ko-KR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분류 구조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5개 모듈 / 17개 오류 유형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memory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reflection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planning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action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system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체크리스트 구성 항목으로 반영함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본 체크리스트 L1 · L2의 골격을 제공</a:t>
            </a:r>
            <a:endParaRPr lang="en-US" altLang="ko-KR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DF45B1-3EFE-38BB-F2FC-0291B4461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107FF08-F9CF-8D9D-385D-FE8AD4917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9261" y="2705100"/>
            <a:ext cx="6408839" cy="63572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B20A04A-15FD-29F7-5D9F-A0F299B02406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5A86AC15-49FF-9206-DA34-19FE9F3CCC4A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63187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EBDD-AC70-5F61-1742-BF6AD4C28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13EB737B-7F29-B136-9018-E5D2E04D5DFC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2.5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체계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④ :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AgentFail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1027E5A-0CF4-BFE1-17D3-F23F188DA50C}"/>
              </a:ext>
            </a:extLst>
          </p:cNvPr>
          <p:cNvSpPr txBox="1"/>
          <p:nvPr/>
        </p:nvSpPr>
        <p:spPr>
          <a:xfrm>
            <a:off x="1143000" y="2095500"/>
            <a:ext cx="12013806" cy="6684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실패</a:t>
            </a:r>
            <a:r>
              <a:rPr lang="ko-KR" altLang="en-US" dirty="0">
                <a:latin typeface="+mn-ea"/>
              </a:rPr>
              <a:t>의 </a:t>
            </a:r>
            <a:r>
              <a:rPr lang="ko-KR" altLang="ko-KR" dirty="0">
                <a:latin typeface="+mn-ea"/>
              </a:rPr>
              <a:t>근본 원인(잘못된 프롬프트, 과제 분해 오류, 논리적 교착 등)</a:t>
            </a:r>
            <a:r>
              <a:rPr lang="ko-KR" altLang="en-US" dirty="0">
                <a:latin typeface="+mn-ea"/>
              </a:rPr>
              <a:t>을</a:t>
            </a:r>
            <a:r>
              <a:rPr lang="ko-KR" altLang="ko-KR" dirty="0">
                <a:latin typeface="+mn-ea"/>
              </a:rPr>
              <a:t> 규명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분류 체계 도출 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Dify</a:t>
            </a:r>
            <a:r>
              <a:rPr lang="ko-KR" altLang="ko-KR" dirty="0">
                <a:latin typeface="+mn-ea"/>
              </a:rPr>
              <a:t>, </a:t>
            </a:r>
            <a:r>
              <a:rPr lang="ko-KR" altLang="ko-KR" dirty="0" err="1">
                <a:latin typeface="+mn-ea"/>
              </a:rPr>
              <a:t>Coze</a:t>
            </a:r>
            <a:r>
              <a:rPr lang="ko-KR" altLang="ko-KR" dirty="0">
                <a:latin typeface="+mn-ea"/>
              </a:rPr>
              <a:t> 기반 10개 시스템의 실패 로그 307건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반사실적 수리(</a:t>
            </a:r>
            <a:r>
              <a:rPr lang="ko-KR" altLang="ko-KR" dirty="0" err="1">
                <a:latin typeface="+mn-ea"/>
              </a:rPr>
              <a:t>counterfactual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repair</a:t>
            </a:r>
            <a:r>
              <a:rPr lang="ko-KR" altLang="ko-KR" dirty="0">
                <a:latin typeface="+mn-ea"/>
              </a:rPr>
              <a:t>) 실험으로 주석 신뢰성 확보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오류 분류 구조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3개 계층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에이전트 수준 · 워크플로 수준 · 플랫폼 수준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계층으로 구성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에서는 체크리스트 구성 항목으로 반영함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4754758-FD23-824E-557B-438C13CA2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3493BCA-FB1D-0689-3F56-1C0FE67A3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2852150"/>
            <a:ext cx="9677400" cy="48821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04D489-011F-310A-B39D-3679250FE546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728BD96C-3F2E-92CA-363A-C033B751755F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3681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93890-0AD1-EDAC-3350-A3464886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6F251CF-6E3E-FE6B-D5C1-A8C575F188AF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2.6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오류 분류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Taxonomy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전체 비교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19040C0-34B6-C0F4-C856-9F92DC55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TextBox 19">
            <a:extLst>
              <a:ext uri="{FF2B5EF4-FFF2-40B4-BE49-F238E27FC236}">
                <a16:creationId xmlns:a16="http://schemas.microsoft.com/office/drawing/2014/main" id="{EF1AAF38-F9BC-E032-0074-2EC6A4339C2B}"/>
              </a:ext>
            </a:extLst>
          </p:cNvPr>
          <p:cNvSpPr txBox="1"/>
          <p:nvPr/>
        </p:nvSpPr>
        <p:spPr>
          <a:xfrm>
            <a:off x="1143000" y="2095500"/>
            <a:ext cx="12013806" cy="10562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ct val="200000"/>
              </a:lnSpc>
              <a:spcBef>
                <a:spcPct val="0"/>
              </a:spcBef>
            </a:pP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에이전트 간 상호작용은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MAST만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플랫폼 구성은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AgentFail만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포함</a:t>
            </a:r>
            <a:endParaRPr lang="en-US" altLang="ko-KR" dirty="0">
              <a:latin typeface="+mn-ea"/>
            </a:endParaRPr>
          </a:p>
          <a:p>
            <a:pPr lvl="0">
              <a:lnSpc>
                <a:spcPct val="200000"/>
              </a:lnSpc>
              <a:spcBef>
                <a:spcPct val="0"/>
              </a:spcBef>
            </a:pPr>
            <a:r>
              <a:rPr lang="ko-KR" altLang="ko-KR" b="1" dirty="0">
                <a:solidFill>
                  <a:srgbClr val="0070C0"/>
                </a:solidFill>
                <a:latin typeface="+mn-ea"/>
              </a:rPr>
              <a:t>→ 단일 체계로는 포괄되지 않으므로 종합이 필요</a:t>
            </a:r>
          </a:p>
        </p:txBody>
      </p:sp>
      <p:graphicFrame>
        <p:nvGraphicFramePr>
          <p:cNvPr id="15" name="Table 13">
            <a:extLst>
              <a:ext uri="{FF2B5EF4-FFF2-40B4-BE49-F238E27FC236}">
                <a16:creationId xmlns:a16="http://schemas.microsoft.com/office/drawing/2014/main" id="{14738F6A-7B64-BE79-922D-FD69501B2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780250"/>
              </p:ext>
            </p:extLst>
          </p:nvPr>
        </p:nvGraphicFramePr>
        <p:xfrm>
          <a:off x="2400299" y="5600700"/>
          <a:ext cx="13487401" cy="40036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5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8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오류 범주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MAST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TRAIL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AET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AgentFail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 · 자원 (C-S1~S3)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메모리 (C-M1~M2)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반성 (C-R1~R2)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△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계획 (C-P1~P3)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행동 (C-A1~A2)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에이전트 간 상호작용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45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워크플로 · 플랫폼 구성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327E045-FB0C-F1A9-9E8A-0D722FE9C464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161106FE-5CD5-3E67-F232-02334E2F4C11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83578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4D342-885A-677D-AE7B-A7F9FC436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B4930E24-90E7-64F1-64F8-37ACE8303585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2.7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로그 관찰 가능성과 오류 귀인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: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TraceElephant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579C2471-7A99-67BD-E553-9DCBB7E3C3BE}"/>
              </a:ext>
            </a:extLst>
          </p:cNvPr>
          <p:cNvSpPr txBox="1"/>
          <p:nvPr/>
        </p:nvSpPr>
        <p:spPr>
          <a:xfrm>
            <a:off x="1143000" y="2095500"/>
            <a:ext cx="12013806" cy="668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기존 벤치마크가 에이전트 출력만 담은 부분 관찰 로그에 의존한다는 점을 지적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개발자가 실제로 디버깅하는 조건, 즉 전체 실행 관찰가능성 하에서 귀인을 평가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380회 실행에서 수집한 실패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220건, 재현 가능한 실행 환경 동봉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주요 결과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전체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사용 시 부분 관찰 대비 귀인 정확도 최대 76% 상대 개선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와의 관계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로그 정보량이 귀인 성능에 영향을 준다는 전제를 뒷받침</a:t>
            </a:r>
            <a:endParaRPr lang="ko-KR" altLang="en-US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단, 비교 대상이 전체 / 출력만의 이분법이며 임의의 로그를 사전에 평가하는 기준은 제시하지 않음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3A2D33-5B5D-3D01-C132-685AA12E8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4140B7-3547-557E-253B-1C004C0EC3A0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FDF8ABC-293A-147C-BAD5-5B46DF23DBF1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43285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6ECF-3801-7ABF-2300-C6A81F087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2CED51C2-5C3A-E4C4-EDDE-F6708904D5B1}"/>
              </a:ext>
            </a:extLst>
          </p:cNvPr>
          <p:cNvSpPr txBox="1"/>
          <p:nvPr/>
        </p:nvSpPr>
        <p:spPr>
          <a:xfrm>
            <a:off x="228600" y="1138929"/>
            <a:ext cx="109728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2.7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로그 관찰 가능성과 오류 귀인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: </a:t>
            </a:r>
            <a:r>
              <a:rPr lang="ko-KR" altLang="ko-KR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TraceElephant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1D4E5A41-043A-A771-329E-E889A28C4074}"/>
              </a:ext>
            </a:extLst>
          </p:cNvPr>
          <p:cNvSpPr txBox="1"/>
          <p:nvPr/>
        </p:nvSpPr>
        <p:spPr>
          <a:xfrm>
            <a:off x="1143000" y="2095500"/>
            <a:ext cx="12013806" cy="668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연구 목적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기존 벤치마크가 에이전트 출력만 담은 부분 관찰 로그에 의존한다는 점을 지적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개발자가 실제로 디버깅하는 조건, 즉 전체 실행 관찰가능성 하에서 귀인을 평가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380회 실행에서 수집한 실패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220건, 재현 가능한 실행 환경 동봉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주요 결과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전체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사용 시 부분 관찰 대비 귀인 정확도 최대 76% 상대 개선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본 연구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와의 관계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로그 정보량이 귀인 성능에 영향을 준다는 전제를 뒷받침</a:t>
            </a:r>
            <a:endParaRPr lang="ko-KR" altLang="en-US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단, 비교 대상이 전체 / 출력만의 이분법이며 임의의 로그를 사전에 평가하는 기준은 제시하지 않음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20AB0E9-51FE-CF44-6298-2EA93292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BCB1D-7DBA-D0AA-FE06-A40035DDE150}"/>
              </a:ext>
            </a:extLst>
          </p:cNvPr>
          <p:cNvSpPr txBox="1"/>
          <p:nvPr/>
        </p:nvSpPr>
        <p:spPr>
          <a:xfrm>
            <a:off x="304800" y="190500"/>
            <a:ext cx="251908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Related Work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C9BCC744-E58E-C34E-9730-2726CD1EBA40}"/>
              </a:ext>
            </a:extLst>
          </p:cNvPr>
          <p:cNvSpPr/>
          <p:nvPr/>
        </p:nvSpPr>
        <p:spPr>
          <a:xfrm>
            <a:off x="2" y="419100"/>
            <a:ext cx="27431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A560F-8D99-134D-0384-5D986C40183B}"/>
              </a:ext>
            </a:extLst>
          </p:cNvPr>
          <p:cNvSpPr/>
          <p:nvPr/>
        </p:nvSpPr>
        <p:spPr>
          <a:xfrm>
            <a:off x="0" y="-19000"/>
            <a:ext cx="18288000" cy="10306000"/>
          </a:xfrm>
          <a:prstGeom prst="rect">
            <a:avLst/>
          </a:prstGeom>
          <a:solidFill>
            <a:srgbClr val="000000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5">
            <a:extLst>
              <a:ext uri="{FF2B5EF4-FFF2-40B4-BE49-F238E27FC236}">
                <a16:creationId xmlns:a16="http://schemas.microsoft.com/office/drawing/2014/main" id="{DEF52AF5-A7D5-1824-535F-A2C67E676A16}"/>
              </a:ext>
            </a:extLst>
          </p:cNvPr>
          <p:cNvSpPr/>
          <p:nvPr/>
        </p:nvSpPr>
        <p:spPr>
          <a:xfrm>
            <a:off x="2286000" y="4507228"/>
            <a:ext cx="12649200" cy="123454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A976FF-D764-B996-D701-CEC5CAE05DD5}"/>
              </a:ext>
            </a:extLst>
          </p:cNvPr>
          <p:cNvSpPr txBox="1"/>
          <p:nvPr/>
        </p:nvSpPr>
        <p:spPr>
          <a:xfrm>
            <a:off x="3124200" y="4925304"/>
            <a:ext cx="10972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+mn-ea"/>
              </a:rPr>
              <a:t>따라서 본 연구는 </a:t>
            </a:r>
            <a:r>
              <a:rPr lang="ko-KR" altLang="en-US" sz="2000" b="1" dirty="0">
                <a:latin typeface="+mn-ea"/>
              </a:rPr>
              <a:t>로그를 사전에 평가하는</a:t>
            </a:r>
            <a:r>
              <a:rPr lang="en-US" altLang="ko-KR" sz="2000" b="1" dirty="0">
                <a:latin typeface="+mn-ea"/>
              </a:rPr>
              <a:t>,</a:t>
            </a:r>
            <a:r>
              <a:rPr lang="ko-KR" altLang="ko-KR" sz="2000" b="1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로그의 진단 가능성 </a:t>
            </a:r>
            <a:r>
              <a:rPr lang="ko-KR" altLang="ko-KR" sz="2000" b="1" dirty="0">
                <a:latin typeface="+mn-ea"/>
              </a:rPr>
              <a:t>측정</a:t>
            </a:r>
            <a:r>
              <a:rPr lang="en-US" altLang="ko-KR" sz="2000" b="1" dirty="0">
                <a:latin typeface="+mn-ea"/>
              </a:rPr>
              <a:t> </a:t>
            </a:r>
            <a:r>
              <a:rPr lang="ko-KR" altLang="en-US" sz="2000" b="1" dirty="0">
                <a:latin typeface="+mn-ea"/>
              </a:rPr>
              <a:t>방법론</a:t>
            </a:r>
            <a:r>
              <a:rPr lang="ko-KR" altLang="ko-KR" sz="2000" dirty="0">
                <a:latin typeface="+mn-ea"/>
              </a:rPr>
              <a:t>을 제안</a:t>
            </a:r>
            <a:endParaRPr lang="ko-KR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199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D8EA-B4B3-2812-66A7-A90610FF5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58FBE5AB-4753-22DE-9D39-F195C4B54024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3.1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 체크리스트 도출 절차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FEC6D818-4E49-25EC-6831-89A46707CE85}"/>
              </a:ext>
            </a:extLst>
          </p:cNvPr>
          <p:cNvSpPr txBox="1"/>
          <p:nvPr/>
        </p:nvSpPr>
        <p:spPr>
          <a:xfrm>
            <a:off x="1143000" y="2095500"/>
            <a:ext cx="15925800" cy="66885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분류 체계의 오류 정의를,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확인 가능한 판정 항목으로 옮기는 절차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dirty="0">
                <a:latin typeface="+mn-ea"/>
              </a:rPr>
              <a:t>① 분류 체계 4종의 오류 유형을 </a:t>
            </a:r>
            <a:r>
              <a:rPr lang="ko-KR" altLang="ko-KR" b="1" dirty="0">
                <a:latin typeface="+mn-ea"/>
              </a:rPr>
              <a:t>수집하고 중복을 통합</a:t>
            </a:r>
            <a:endParaRPr lang="en-US" altLang="ko-KR" b="1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dirty="0">
                <a:latin typeface="+mn-ea"/>
              </a:rPr>
              <a:t>② 각 유형을 예 / </a:t>
            </a:r>
            <a:r>
              <a:rPr lang="ko-KR" altLang="ko-KR" dirty="0" err="1">
                <a:latin typeface="+mn-ea"/>
              </a:rPr>
              <a:t>아니오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b="1" dirty="0">
                <a:latin typeface="+mn-ea"/>
              </a:rPr>
              <a:t>판정이 가능한 질문으로 변환</a:t>
            </a:r>
            <a:endParaRPr lang="en-US" altLang="ko-KR" b="1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dirty="0">
                <a:latin typeface="+mn-ea"/>
              </a:rPr>
              <a:t>③ 각 질문을 판단하려면 </a:t>
            </a:r>
            <a:r>
              <a:rPr lang="ko-KR" altLang="ko-KR" b="1" dirty="0">
                <a:latin typeface="+mn-ea"/>
              </a:rPr>
              <a:t>로그에 무엇이 남아 있어야 하는지를 확인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dirty="0">
                <a:latin typeface="+mn-ea"/>
              </a:rPr>
              <a:t>④ 진단가능성을 판단하는 항목과 실제 오류를 진단하는 항목으로 </a:t>
            </a:r>
            <a:r>
              <a:rPr lang="ko-KR" altLang="ko-KR" b="1" dirty="0">
                <a:latin typeface="+mn-ea"/>
              </a:rPr>
              <a:t>분리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③에서 질문마다 요구하는 조건이 다르다는 점이 드러나며, 이것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계층 분리의 근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거로 삼음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요구 조건이 충족되지 않으면 그 질문은 판단 자체가 불가능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3계층 18항목</a:t>
            </a:r>
            <a:r>
              <a:rPr lang="ko-KR" altLang="en-US" dirty="0">
                <a:latin typeface="+mn-ea"/>
              </a:rPr>
              <a:t>으로</a:t>
            </a:r>
            <a:r>
              <a:rPr lang="ko-KR" altLang="ko-KR" dirty="0">
                <a:latin typeface="+mn-ea"/>
              </a:rPr>
              <a:t> 구성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L0 6항목은 진단가능성을 판단하는 항목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L1 3항목 · L2 9항목은 실제 진단 항목</a:t>
            </a:r>
            <a:endParaRPr lang="en-US" altLang="ko-KR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309F6F6-9955-7218-871A-59BB1604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214C57-69C3-EE3D-587C-2147E1FB9B18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5" name="AutoShape 14">
            <a:extLst>
              <a:ext uri="{FF2B5EF4-FFF2-40B4-BE49-F238E27FC236}">
                <a16:creationId xmlns:a16="http://schemas.microsoft.com/office/drawing/2014/main" id="{AB997984-7856-E23D-ED20-111F584A4580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9398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E3DC-0BBE-B1CB-7F34-1598624E0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6CB3EDFF-8BFF-99F9-3B5B-C1007DD65D19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3.2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계층 구조와 규칙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111388-42FF-62D4-CC41-D2252658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A6201B87-DC7A-F677-4D65-69C9D88BF65A}"/>
              </a:ext>
            </a:extLst>
          </p:cNvPr>
          <p:cNvSpPr txBox="1"/>
          <p:nvPr/>
        </p:nvSpPr>
        <p:spPr>
          <a:xfrm>
            <a:off x="1143000" y="2095500"/>
            <a:ext cx="12013806" cy="7242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L0 (6항목) — 진단가능성을 판단하는 항목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오류 판단의 근거가 로그에 남아 있는지를 확인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오류의 유무가 아니라 로그의 상태를 판정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L1 (3항목) · L2 (9항목) — 실제 진단 항목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L1은 시스템 및 환경 수준, L2는 에이전트 </a:t>
            </a:r>
            <a:r>
              <a:rPr lang="ko-KR" altLang="ko-KR" dirty="0" err="1">
                <a:latin typeface="+mn-ea"/>
              </a:rPr>
              <a:t>step</a:t>
            </a:r>
            <a:r>
              <a:rPr lang="ko-KR" altLang="ko-KR" dirty="0">
                <a:latin typeface="+mn-ea"/>
              </a:rPr>
              <a:t> 단위의 오류를 판정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각 항목은 판정에 필요한 L0를 요구 L0로 지정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판정은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LLM이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실행 로그를 읽고 항목별로 수행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규칙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요구 L0 중 하나라도 </a:t>
            </a:r>
            <a:r>
              <a:rPr lang="ko-KR" altLang="ko-KR" dirty="0" err="1">
                <a:latin typeface="+mn-ea"/>
              </a:rPr>
              <a:t>X이면</a:t>
            </a:r>
            <a:r>
              <a:rPr lang="ko-KR" altLang="ko-KR" dirty="0">
                <a:latin typeface="+mn-ea"/>
              </a:rPr>
              <a:t> 해당 L1 · L2 항목은 채우지 않음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오류 없음이 아니라 </a:t>
            </a:r>
            <a:r>
              <a:rPr lang="ko-KR" altLang="ko-KR" b="1" dirty="0">
                <a:latin typeface="+mn-ea"/>
              </a:rPr>
              <a:t>판단 불가로 처리</a:t>
            </a:r>
            <a:r>
              <a:rPr lang="en-US" altLang="ko-KR" b="1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ko-KR" dirty="0">
                <a:latin typeface="+mn-ea"/>
              </a:rPr>
              <a:t>근거가 없는 상태에서 오류 없음으로 기록되는 것을 막기 위함</a:t>
            </a:r>
            <a:r>
              <a:rPr lang="en-US" altLang="ko-KR" dirty="0">
                <a:latin typeface="+mn-ea"/>
              </a:rPr>
              <a:t>)</a:t>
            </a:r>
            <a:endParaRPr lang="ko-KR" altLang="ko-KR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4FD51-F242-544F-B1C2-72978B2BC573}"/>
              </a:ext>
            </a:extLst>
          </p:cNvPr>
          <p:cNvSpPr txBox="1"/>
          <p:nvPr/>
        </p:nvSpPr>
        <p:spPr>
          <a:xfrm>
            <a:off x="10439400" y="84963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ko-KR" altLang="ko-KR" b="1" dirty="0">
                <a:solidFill>
                  <a:srgbClr val="0070C0"/>
                </a:solidFill>
                <a:latin typeface="+mn-ea"/>
              </a:rPr>
              <a:t>→ 채워진 항목과 비워진 항목의 구분 자체가 그 로그의 진단가능성</a:t>
            </a:r>
            <a:r>
              <a:rPr lang="ko-KR" altLang="ko-KR" dirty="0">
                <a:solidFill>
                  <a:srgbClr val="0070C0"/>
                </a:solidFill>
                <a:latin typeface="+mn-ea"/>
              </a:rPr>
              <a:t>을 나타냄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4B9F1C-BBAC-982F-A746-1A0F2E188C2F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3D9AFAD8-8A82-FB1B-06EE-6CCF9AC62190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21763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46386-D31C-4F99-6637-D11E93A97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65E870F8-6C4B-75F1-D0BB-D8B41425D49B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3.3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진단 체크리스트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8DE245B-78CE-54D8-A27B-853BC564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11" name="Table 14">
            <a:extLst>
              <a:ext uri="{FF2B5EF4-FFF2-40B4-BE49-F238E27FC236}">
                <a16:creationId xmlns:a16="http://schemas.microsoft.com/office/drawing/2014/main" id="{413C9DA1-2EBF-DAE2-2DD2-5ED30C2E7B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13569"/>
              </p:ext>
            </p:extLst>
          </p:nvPr>
        </p:nvGraphicFramePr>
        <p:xfrm>
          <a:off x="2514600" y="3695700"/>
          <a:ext cx="13868400" cy="420135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6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ID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질문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종속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과제 명세(목표·제약)가 로그에 포함되는가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각 단계의 경계가 명확히 식별되는가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단계마다 모듈별 출력이 나뉘어 기록되는가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행동의 결과가 기록되는가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L0-05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도구/API 응답이 가공 이전 상태로 보존되는가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194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L0-06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모델·토큰·지연·한도 등 시스템 정보가 기록되는가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65FD661-5CC9-1B9C-F375-25C9494F03DB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44AD3D7C-B6AE-6FD7-21CE-1CE6A13C2D93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3894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F2403-BB59-A6A1-3EE5-291279D9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6AF714FB-046A-C509-D74B-BE30EBC21FF6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3.3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진단 체크리스트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0E44F0-AA62-4E3C-4D41-55F8EB82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13" name="Table 15">
            <a:extLst>
              <a:ext uri="{FF2B5EF4-FFF2-40B4-BE49-F238E27FC236}">
                <a16:creationId xmlns:a16="http://schemas.microsoft.com/office/drawing/2014/main" id="{C9F15872-A647-7E1B-B53B-8AAD0B9F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00472"/>
              </p:ext>
            </p:extLst>
          </p:nvPr>
        </p:nvGraphicFramePr>
        <p:xfrm>
          <a:off x="1996853" y="3619500"/>
          <a:ext cx="14294294" cy="32618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16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6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20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457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ID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질문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요구 L0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5457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목표를 달성하지 못한 채 step 한도에 도달하여 종료되는가 (C-S1)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L0-02, L0-06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5457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행동이 형식 오류로 실행되지 못하는가 (C-S2)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L0-05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5457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행동이 환경·도구의 문제로 실패하는가 (C-S3)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L0-05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F1A94F-DBD9-1BB0-56C5-05C77CDD95D6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2FEEEB57-E409-DA33-9E8C-1BB2C8AF08FC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585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4D41-2563-1109-4D8E-5DC92500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FE37332E-8BBB-F79A-1D60-CC35009E91D4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3.3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진단 체크리스트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C50A9D3-E9B9-66D7-9352-A778C378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7" name="Table 16">
            <a:extLst>
              <a:ext uri="{FF2B5EF4-FFF2-40B4-BE49-F238E27FC236}">
                <a16:creationId xmlns:a16="http://schemas.microsoft.com/office/drawing/2014/main" id="{3184B65E-BEED-5B95-E05B-0CFFE6562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5464825"/>
              </p:ext>
            </p:extLst>
          </p:nvPr>
        </p:nvGraphicFramePr>
        <p:xfrm>
          <a:off x="1714500" y="2628900"/>
          <a:ext cx="14859000" cy="6934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3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7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ID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 질문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요구 L0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이전 기록과 어긋나는 내용을 사실로 진술하는가 (C-M1)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이전 기록에 있는 정보를 활용하지 못하는가 (C-M2)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누적된 진행 정도를 실제와 다르게 판단하는가 (C-R1)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직전 행동의 결과를 잘못 해석하는가 (C-R2)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과제 명세를 위반하는 계획을 수립하는가 (C-P1)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L0-01, L0-03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현재 상태에서 실행 불가능한 행동을 계획하는가 (C-P2)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실패를 확인했음에도 다른 전략으로 전환하지 않는가 (C-P3)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L0-02, 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L2-A1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계획한 것과 다른 행동을 실행하는가 (C-A1)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L2-A2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행동의 대상이나 값이 잘못 지정되는가 (C-A2)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L0-03, L0-04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6944C96-0DA1-2DC2-D3BB-CF0CAC13DF7B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59A7A07-63D0-4CCD-5BB6-4D9B7DD9C621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45995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7814B-D855-0146-71E3-1EF359CF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16594FE2-9422-AEB1-26F2-EF3D24ED9378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3.4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도출 근거 </a:t>
            </a:r>
            <a:r>
              <a:rPr lang="en-US" altLang="ko-KR" sz="2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</a:t>
            </a:r>
            <a:r>
              <a:rPr lang="ko-KR" altLang="ko-KR" sz="2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오류 분류 체계</a:t>
            </a:r>
            <a:r>
              <a:rPr lang="ko-KR" altLang="en-US" sz="2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61A78EB-EEB0-3020-B94D-6F9ED9C05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DEBEA317-41EB-BF6E-48D0-C518B3384A49}"/>
              </a:ext>
            </a:extLst>
          </p:cNvPr>
          <p:cNvSpPr txBox="1"/>
          <p:nvPr/>
        </p:nvSpPr>
        <p:spPr>
          <a:xfrm>
            <a:off x="1143000" y="2095500"/>
            <a:ext cx="12013806" cy="497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18항목이 각각 어느 분류 체계에서 도출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되었는지의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대응 관계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8" name="Table 17">
            <a:extLst>
              <a:ext uri="{FF2B5EF4-FFF2-40B4-BE49-F238E27FC236}">
                <a16:creationId xmlns:a16="http://schemas.microsoft.com/office/drawing/2014/main" id="{F392EE8A-91F1-FFD9-B6A5-9EA74B32E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806523"/>
              </p:ext>
            </p:extLst>
          </p:nvPr>
        </p:nvGraphicFramePr>
        <p:xfrm>
          <a:off x="2324101" y="2910834"/>
          <a:ext cx="13639798" cy="696511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69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2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2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2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26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항목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MAST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TRAIL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AET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AgentFail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L0-04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L0-05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L0-06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L1-03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L2-P3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L2-A1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66585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L2-A2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○</a:t>
                      </a: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4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2000" marB="12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DFC0CE5-3987-FDFD-C764-B04955E47360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20C0BE34-0EDB-8E75-AA20-D02EF9C27E6B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195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304D-B7A6-823A-30D7-91E09AFB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799C39AC-6012-9181-FF7D-A42AABB25EDD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3.5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진단가능성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(</a:t>
            </a:r>
            <a:r>
              <a:rPr lang="ko-KR" altLang="en-US" sz="28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Ｄ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)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산출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FBC9BB-5205-C9C0-C178-1A24B140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97FB5515-A200-2666-312B-28BDFE0EF797}"/>
              </a:ext>
            </a:extLst>
          </p:cNvPr>
          <p:cNvSpPr txBox="1"/>
          <p:nvPr/>
        </p:nvSpPr>
        <p:spPr>
          <a:xfrm>
            <a:off x="1143000" y="2095500"/>
            <a:ext cx="9296400" cy="79196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요구 L0가 모두 충족되어 실제 진단이 가능한 항목의 비율로 산출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L1 · L2 12항목 중 </a:t>
            </a:r>
            <a:r>
              <a:rPr lang="en-US" altLang="ko-KR" dirty="0">
                <a:latin typeface="+mn-ea"/>
              </a:rPr>
              <a:t>L0</a:t>
            </a:r>
            <a:r>
              <a:rPr lang="ko-KR" altLang="en-US" dirty="0">
                <a:latin typeface="+mn-ea"/>
              </a:rPr>
              <a:t>을 충족하여</a:t>
            </a:r>
            <a:r>
              <a:rPr lang="en-US" altLang="ko-KR" dirty="0">
                <a:latin typeface="+mn-ea"/>
              </a:rPr>
              <a:t>,</a:t>
            </a:r>
            <a:r>
              <a:rPr lang="ko-KR" altLang="ko-KR" dirty="0">
                <a:latin typeface="+mn-ea"/>
              </a:rPr>
              <a:t> 채울 수 있는 항목의 비율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실제 진단이나 오류 귀인을 수행하기 전에 계산 가능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산출식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예시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X로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판정된 L0의 개수가 같아도 어느 항목인지에 따라 값이 크게 달라짐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어떤 근거가 없어 무엇을 판단할 수 없는지</a:t>
            </a:r>
            <a:r>
              <a:rPr lang="ko-KR" altLang="en-US" dirty="0">
                <a:latin typeface="+mn-ea"/>
              </a:rPr>
              <a:t>도</a:t>
            </a:r>
            <a:r>
              <a:rPr lang="ko-KR" altLang="ko-KR" dirty="0">
                <a:latin typeface="+mn-ea"/>
              </a:rPr>
              <a:t> 함께 드러남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7" name="Table 18">
            <a:extLst>
              <a:ext uri="{FF2B5EF4-FFF2-40B4-BE49-F238E27FC236}">
                <a16:creationId xmlns:a16="http://schemas.microsoft.com/office/drawing/2014/main" id="{0B82017D-0F59-BB4B-F18B-9CA899C93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178321"/>
              </p:ext>
            </p:extLst>
          </p:nvPr>
        </p:nvGraphicFramePr>
        <p:xfrm>
          <a:off x="1676400" y="6591300"/>
          <a:ext cx="12039600" cy="2286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49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92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25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2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로그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</a:t>
                      </a: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로 판정된 L0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판단 불가 항목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진단가능성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 / 12 = 1.00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L0-05  도구 응답이 가공 이전 상태로 남아 있지 않음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L1-02, L1-03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 / 12 ≈ 0.83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  모듈별 출력이 나뉘어 기록되지 않음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L1-01 외 11항목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 / 12 ≈ 0.08</a:t>
                      </a:r>
                    </a:p>
                  </a:txBody>
                  <a:tcPr marL="60967" marR="60967" marT="30483" marB="30483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457CD40-66AF-C42D-BC74-D1B6EB2AA01A}"/>
              </a:ext>
            </a:extLst>
          </p:cNvPr>
          <p:cNvSpPr txBox="1"/>
          <p:nvPr/>
        </p:nvSpPr>
        <p:spPr>
          <a:xfrm>
            <a:off x="1446821" y="4974223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　</a:t>
            </a:r>
            <a:r>
              <a:rPr lang="en-US" altLang="ko-KR" sz="1600" dirty="0">
                <a:latin typeface="+mn-ea"/>
              </a:rPr>
              <a:t>A = </a:t>
            </a:r>
            <a:r>
              <a:rPr lang="ko-KR" altLang="en-US" sz="1600" dirty="0">
                <a:latin typeface="+mn-ea"/>
              </a:rPr>
              <a:t>요구 </a:t>
            </a:r>
            <a:r>
              <a:rPr lang="en-US" altLang="ko-KR" sz="1600" dirty="0">
                <a:latin typeface="+mn-ea"/>
              </a:rPr>
              <a:t>L0</a:t>
            </a:r>
            <a:r>
              <a:rPr lang="ko-KR" altLang="en-US" sz="1600" dirty="0">
                <a:latin typeface="+mn-ea"/>
              </a:rPr>
              <a:t>이 모두 충족된 </a:t>
            </a:r>
            <a:r>
              <a:rPr lang="en-US" altLang="ko-KR" sz="1600" dirty="0">
                <a:latin typeface="+mn-ea"/>
              </a:rPr>
              <a:t>L1,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L2 </a:t>
            </a:r>
            <a:r>
              <a:rPr lang="ko-KR" altLang="en-US" sz="1600" dirty="0">
                <a:latin typeface="+mn-ea"/>
              </a:rPr>
              <a:t>항목 수　</a:t>
            </a:r>
            <a:endParaRPr lang="ko-KR" alt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D3CDF2-17A1-950D-9FB0-2AAEF99F38D5}"/>
              </a:ext>
            </a:extLst>
          </p:cNvPr>
          <p:cNvSpPr txBox="1"/>
          <p:nvPr/>
        </p:nvSpPr>
        <p:spPr>
          <a:xfrm>
            <a:off x="1480091" y="552450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+mn-ea"/>
              </a:rPr>
              <a:t>　</a:t>
            </a:r>
            <a:r>
              <a:rPr lang="ko-KR" altLang="en-US" sz="1600" dirty="0" err="1">
                <a:latin typeface="+mn-ea"/>
              </a:rPr>
              <a:t>Ｄ</a:t>
            </a:r>
            <a:r>
              <a:rPr lang="ko-KR" altLang="en-US" sz="1600" dirty="0">
                <a:latin typeface="+mn-ea"/>
              </a:rPr>
              <a:t> ＝ </a:t>
            </a:r>
            <a:r>
              <a:rPr lang="ko-KR" altLang="en-US" sz="1600" dirty="0" err="1">
                <a:latin typeface="+mn-ea"/>
              </a:rPr>
              <a:t>Ａ</a:t>
            </a:r>
            <a:r>
              <a:rPr lang="ko-KR" altLang="en-US" sz="1600" dirty="0">
                <a:latin typeface="+mn-ea"/>
              </a:rPr>
              <a:t> ／</a:t>
            </a:r>
            <a:r>
              <a:rPr lang="en-US" altLang="ko-KR" sz="1600" dirty="0">
                <a:latin typeface="+mn-ea"/>
              </a:rPr>
              <a:t> 12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F5EA44-B017-18FB-4337-80D6D1D6BE66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78AE753A-CEEC-1B41-F287-7F264720AFF7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09194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CD697-07E5-7967-7232-E72F69E5D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275023EB-95E9-1384-2DFE-41489344388A}"/>
              </a:ext>
            </a:extLst>
          </p:cNvPr>
          <p:cNvSpPr txBox="1"/>
          <p:nvPr/>
        </p:nvSpPr>
        <p:spPr>
          <a:xfrm>
            <a:off x="228600" y="1138929"/>
            <a:ext cx="8382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3.6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전체 흐름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66A9569-5531-FD07-964D-5CCE2B089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38269D-FFA3-922D-685F-3469A1ACEAC9}"/>
              </a:ext>
            </a:extLst>
          </p:cNvPr>
          <p:cNvSpPr txBox="1"/>
          <p:nvPr/>
        </p:nvSpPr>
        <p:spPr>
          <a:xfrm>
            <a:off x="533400" y="190500"/>
            <a:ext cx="1677662" cy="820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Method</a:t>
            </a: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1B0E1D55-8C6F-52E4-299F-57411B9E8E94}"/>
              </a:ext>
            </a:extLst>
          </p:cNvPr>
          <p:cNvSpPr/>
          <p:nvPr/>
        </p:nvSpPr>
        <p:spPr>
          <a:xfrm>
            <a:off x="2" y="419100"/>
            <a:ext cx="2209798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74BFDD-3742-8951-327E-9AEDAB51D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30" y="3009900"/>
            <a:ext cx="16402540" cy="55626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978A315-BB77-0A83-6FFC-E364814C1D4F}"/>
              </a:ext>
            </a:extLst>
          </p:cNvPr>
          <p:cNvSpPr/>
          <p:nvPr/>
        </p:nvSpPr>
        <p:spPr>
          <a:xfrm>
            <a:off x="7086600" y="3543300"/>
            <a:ext cx="4572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335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CA077-43B0-D8E3-C457-B9685B7D2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2EAF0D4E-C330-7804-F9D1-DD852C58CFAB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4.1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실험 공통 설정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A30F799-B2A6-023A-6518-379219B8C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67CF9734-8031-09DC-76E6-9F43CB528043}"/>
              </a:ext>
            </a:extLst>
          </p:cNvPr>
          <p:cNvSpPr txBox="1"/>
          <p:nvPr/>
        </p:nvSpPr>
        <p:spPr>
          <a:xfrm>
            <a:off x="1143000" y="2095500"/>
            <a:ext cx="15925800" cy="3857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오류 귀인 방법론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Who&amp;When에서</a:t>
            </a:r>
            <a:r>
              <a:rPr lang="ko-KR" altLang="ko-KR" dirty="0">
                <a:latin typeface="+mn-ea"/>
              </a:rPr>
              <a:t> 제시된 방식을 재현하여 사용</a:t>
            </a:r>
            <a:r>
              <a:rPr lang="en-US" altLang="ko-KR" dirty="0">
                <a:latin typeface="+mn-ea"/>
              </a:rPr>
              <a:t> (</a:t>
            </a:r>
            <a:r>
              <a:rPr lang="ko-KR" altLang="ko-KR" dirty="0" err="1">
                <a:latin typeface="+mn-ea"/>
              </a:rPr>
              <a:t>all-at-once</a:t>
            </a:r>
            <a:r>
              <a:rPr lang="en-US" altLang="ko-KR" dirty="0">
                <a:latin typeface="+mn-ea"/>
              </a:rPr>
              <a:t>)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방법론을 고정</a:t>
            </a:r>
            <a:r>
              <a:rPr lang="ko-KR" altLang="en-US" dirty="0">
                <a:latin typeface="+mn-ea"/>
              </a:rPr>
              <a:t>하여</a:t>
            </a:r>
            <a:r>
              <a:rPr lang="ko-KR" altLang="ko-KR" dirty="0">
                <a:latin typeface="+mn-ea"/>
              </a:rPr>
              <a:t> 로그에서 비롯된 성능 차이를 분리할 수 있</a:t>
            </a:r>
            <a:r>
              <a:rPr lang="ko-KR" altLang="en-US" dirty="0">
                <a:latin typeface="+mn-ea"/>
              </a:rPr>
              <a:t>도록 설계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평가 지표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agent-level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accuracy</a:t>
            </a:r>
            <a:r>
              <a:rPr lang="ko-KR" altLang="ko-KR" dirty="0">
                <a:latin typeface="+mn-ea"/>
              </a:rPr>
              <a:t>(책임 에이전트 식별) / </a:t>
            </a:r>
            <a:r>
              <a:rPr lang="ko-KR" altLang="ko-KR" dirty="0" err="1">
                <a:latin typeface="+mn-ea"/>
              </a:rPr>
              <a:t>step-level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accuracy</a:t>
            </a:r>
            <a:r>
              <a:rPr lang="ko-KR" altLang="ko-KR" dirty="0">
                <a:latin typeface="+mn-ea"/>
              </a:rPr>
              <a:t>(결정적 오류 </a:t>
            </a:r>
            <a:r>
              <a:rPr lang="ko-KR" altLang="ko-KR" dirty="0" err="1">
                <a:latin typeface="+mn-ea"/>
              </a:rPr>
              <a:t>step</a:t>
            </a:r>
            <a:r>
              <a:rPr lang="ko-KR" altLang="ko-KR" dirty="0">
                <a:latin typeface="+mn-ea"/>
              </a:rPr>
              <a:t> 식별)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solidFill>
                  <a:srgbClr val="FF0000"/>
                </a:solidFill>
                <a:latin typeface="+mn-ea"/>
              </a:rPr>
              <a:t>    -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그런데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벤치마크마다 말하는 오류의 정의와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, step/span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등 정답의 범위가 </a:t>
            </a:r>
            <a:r>
              <a:rPr lang="ko-KR" altLang="en-US" dirty="0" err="1">
                <a:solidFill>
                  <a:srgbClr val="FF0000"/>
                </a:solidFill>
                <a:latin typeface="+mn-ea"/>
              </a:rPr>
              <a:t>달라질텐데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어떻게 </a:t>
            </a:r>
            <a:r>
              <a:rPr lang="ko-KR" altLang="en-US" dirty="0" err="1">
                <a:solidFill>
                  <a:srgbClr val="FF0000"/>
                </a:solidFill>
                <a:latin typeface="+mn-ea"/>
              </a:rPr>
              <a:t>구성하는게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좋을지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..? (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지침을 다르게 줘서 잘 찾게 하면 문제가 없는 건지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?)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220AF-9AA9-93E2-29A5-C70930CEA11E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4D120FF0-1178-91FA-9805-1C7DC375339E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4760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50F3-A17A-F612-4BA1-8B99DF0D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498792BE-A64C-E7D1-9EFB-21683C814FE2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4.2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실험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Dataset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8CDF5E-3272-A30C-230F-33EC5B294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697A4C15-91CB-B196-ABD2-BC3B5E2FAE3B}"/>
              </a:ext>
            </a:extLst>
          </p:cNvPr>
          <p:cNvSpPr txBox="1"/>
          <p:nvPr/>
        </p:nvSpPr>
        <p:spPr>
          <a:xfrm>
            <a:off x="1143000" y="2095500"/>
            <a:ext cx="15925800" cy="5118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실험 진행 예정인 벤치마크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서브셋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전체 실험 설계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로그 </a:t>
            </a:r>
            <a:r>
              <a:rPr lang="en-US" altLang="ko-KR" dirty="0">
                <a:latin typeface="+mn-ea"/>
              </a:rPr>
              <a:t>step </a:t>
            </a:r>
            <a:r>
              <a:rPr lang="ko-KR" altLang="en-US" dirty="0">
                <a:latin typeface="+mn-ea"/>
              </a:rPr>
              <a:t>분포가 벤치마크 별로 상이한 모습을 보임</a:t>
            </a:r>
            <a:r>
              <a:rPr lang="en-US" altLang="ko-KR" dirty="0">
                <a:latin typeface="+mn-ea"/>
              </a:rPr>
              <a:t>.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en-US" b="1" dirty="0">
                <a:latin typeface="+mn-ea"/>
              </a:rPr>
              <a:t>궤적 길이 보정</a:t>
            </a:r>
            <a:r>
              <a:rPr lang="ko-KR" altLang="en-US" dirty="0">
                <a:latin typeface="+mn-ea"/>
              </a:rPr>
              <a:t>이 필요</a:t>
            </a:r>
            <a:endParaRPr lang="en-US" altLang="ko-KR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A613D53-6C18-8920-84E3-ED0F18BC4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781300"/>
            <a:ext cx="6629400" cy="23474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688603-8612-F029-F8B4-3EF80D34FB13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3CFD6E2E-91A5-2186-8827-D7F0CF5A5D3D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03683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BAA32-AB02-F9C5-E98A-10081E024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236B0045-3133-CE56-E9E2-10C0109BA927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4.3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평가 지표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F5CF16-2BDE-7972-28F9-155331604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375BBAA5-FE43-B9C9-4847-B0645D8A21E1}"/>
              </a:ext>
            </a:extLst>
          </p:cNvPr>
          <p:cNvSpPr txBox="1"/>
          <p:nvPr/>
        </p:nvSpPr>
        <p:spPr>
          <a:xfrm>
            <a:off x="1143000" y="2095500"/>
            <a:ext cx="15925800" cy="5611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궤적의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T에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따라 우연히 맞힐 확률이 달라,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raw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accuracy는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길이가 다른 궤적 간 비교가 불가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5-step 궤적에서</a:t>
            </a:r>
            <a:r>
              <a:rPr lang="ko-KR" altLang="en-US" dirty="0">
                <a:latin typeface="+mn-ea"/>
              </a:rPr>
              <a:t>는</a:t>
            </a:r>
            <a:r>
              <a:rPr lang="ko-KR" altLang="ko-KR" dirty="0">
                <a:latin typeface="+mn-ea"/>
              </a:rPr>
              <a:t> 무작위로 지목해도 20%, 50-step에서는 </a:t>
            </a:r>
            <a:r>
              <a:rPr lang="ko-KR" altLang="en-US" dirty="0">
                <a:latin typeface="+mn-ea"/>
              </a:rPr>
              <a:t>무작위로 지목하면 </a:t>
            </a:r>
            <a:r>
              <a:rPr lang="ko-KR" altLang="ko-KR" dirty="0">
                <a:latin typeface="+mn-ea"/>
              </a:rPr>
              <a:t>2%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우연 수준을 0, 완전 일치를 1로 고정하도록 보정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적용 방식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trace마다</a:t>
            </a:r>
            <a:r>
              <a:rPr lang="ko-KR" altLang="ko-KR" dirty="0">
                <a:latin typeface="+mn-ea"/>
              </a:rPr>
              <a:t> 보정한 뒤 평균을 산출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agent-level은</a:t>
            </a:r>
            <a:r>
              <a:rPr lang="ko-KR" altLang="ko-KR" dirty="0">
                <a:latin typeface="+mn-ea"/>
              </a:rPr>
              <a:t> 에이전트 수 K에 대해 동일하게 적용</a:t>
            </a:r>
            <a:endParaRPr lang="en-US" altLang="ko-KR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9F167-A589-DBDF-6603-EFF4D59721CC}"/>
              </a:ext>
            </a:extLst>
          </p:cNvPr>
          <p:cNvSpPr txBox="1"/>
          <p:nvPr/>
        </p:nvSpPr>
        <p:spPr>
          <a:xfrm>
            <a:off x="1524000" y="7907679"/>
            <a:ext cx="134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→ </a:t>
            </a:r>
            <a:r>
              <a:rPr lang="ko-KR" altLang="ko-KR" b="1" dirty="0"/>
              <a:t>궤적 길이가 다른 벤치마크 </a:t>
            </a:r>
            <a:r>
              <a:rPr lang="ko-KR" altLang="ko-KR" dirty="0"/>
              <a:t>간에도 </a:t>
            </a:r>
            <a:r>
              <a:rPr lang="ko-KR" altLang="ko-KR" b="1" dirty="0"/>
              <a:t>동일한 기준으로 비교 가능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F12EB-F893-16C1-EDA5-61418BD9F416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54C5A1D9-C059-0D3B-5D3A-699E1A3CC28A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FBAC2A-5298-B7BC-5C68-820B989C5421}"/>
                  </a:ext>
                </a:extLst>
              </p:cNvPr>
              <p:cNvSpPr txBox="1"/>
              <p:nvPr/>
            </p:nvSpPr>
            <p:spPr>
              <a:xfrm>
                <a:off x="1514341" y="4686836"/>
                <a:ext cx="2222275" cy="9133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𝐴𝐶𝐶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𝑎𝑐𝑐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−1/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1−1/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</m:oMath>
                  </m:oMathPara>
                </a14:m>
                <a:endParaRPr lang="en-US" altLang="ko-KR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FBAC2A-5298-B7BC-5C68-820B989C5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341" y="4686836"/>
                <a:ext cx="2222275" cy="9133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3673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15A3C-4B8A-DA71-5FAB-7BED84797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7CC25555-71C3-2554-F0BE-24FAA7B42577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4.4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1 ① 통제 실험 설계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71697A-3037-42FC-09BE-28D512CA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D00BD5A2-D7B5-C727-2FE3-DC4446858811}"/>
              </a:ext>
            </a:extLst>
          </p:cNvPr>
          <p:cNvSpPr txBox="1"/>
          <p:nvPr/>
        </p:nvSpPr>
        <p:spPr>
          <a:xfrm>
            <a:off x="1143000" y="2095500"/>
            <a:ext cx="15925800" cy="72380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로그에 노이즈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주입해, 진단가능성과 귀인 성능이 함께 움직이는지 확인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로그 외의 조건이 모두 같으므로 두 값의 변화를 직접 대조 가능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실험 대상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원본 로그 / </a:t>
            </a:r>
            <a:r>
              <a:rPr lang="ko-KR" altLang="en-US" dirty="0">
                <a:latin typeface="+mn-ea"/>
              </a:rPr>
              <a:t>원본</a:t>
            </a:r>
            <a:r>
              <a:rPr lang="ko-KR" altLang="ko-KR" dirty="0">
                <a:latin typeface="+mn-ea"/>
              </a:rPr>
              <a:t> 로그에 노이즈를 주입한 변형 로그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방법론을 고정</a:t>
            </a:r>
            <a:r>
              <a:rPr lang="ko-KR" altLang="en-US" dirty="0">
                <a:latin typeface="+mn-ea"/>
              </a:rPr>
              <a:t>하여</a:t>
            </a:r>
            <a:r>
              <a:rPr lang="ko-KR" altLang="ko-KR" dirty="0">
                <a:latin typeface="+mn-ea"/>
              </a:rPr>
              <a:t> 로그에서 비롯된 성능 차이를 분리할 수 있</a:t>
            </a:r>
            <a:r>
              <a:rPr lang="ko-KR" altLang="en-US" dirty="0">
                <a:latin typeface="+mn-ea"/>
              </a:rPr>
              <a:t>도록 설계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노이즈 정의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특정 L0가 </a:t>
            </a:r>
            <a:r>
              <a:rPr lang="ko-KR" altLang="ko-KR" dirty="0" err="1">
                <a:latin typeface="+mn-ea"/>
              </a:rPr>
              <a:t>X가</a:t>
            </a:r>
            <a:r>
              <a:rPr lang="ko-KR" altLang="ko-KR" dirty="0">
                <a:latin typeface="+mn-ea"/>
              </a:rPr>
              <a:t> 되도록 로그를 변형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ex)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모듈별 출력 구분을 삭제 → 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ko-KR" dirty="0">
                <a:latin typeface="+mn-ea"/>
              </a:rPr>
              <a:t>L0-03 = </a:t>
            </a:r>
            <a:r>
              <a:rPr lang="ko-KR" altLang="ko-KR" dirty="0" err="1">
                <a:latin typeface="+mn-ea"/>
              </a:rPr>
              <a:t>X</a:t>
            </a:r>
            <a:r>
              <a:rPr lang="ko-KR" altLang="ko-KR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ex) </a:t>
            </a:r>
            <a:r>
              <a:rPr lang="ko-KR" altLang="ko-KR" dirty="0">
                <a:latin typeface="+mn-ea"/>
              </a:rPr>
              <a:t>단계 경계를 제거하고 단일 텍스트로 병합 →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ko-KR" dirty="0">
                <a:latin typeface="+mn-ea"/>
              </a:rPr>
              <a:t>L0-02 = </a:t>
            </a:r>
            <a:r>
              <a:rPr lang="ko-KR" altLang="ko-KR" dirty="0" err="1">
                <a:latin typeface="+mn-ea"/>
              </a:rPr>
              <a:t>X</a:t>
            </a:r>
            <a:r>
              <a:rPr lang="ko-KR" altLang="ko-KR" dirty="0">
                <a:latin typeface="+mn-ea"/>
              </a:rPr>
              <a:t>)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원본과 변형 로그 각각에 대해 진단가능성을 산출하고, 동일한 귀인 방법론을 적용해 성능을 측정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17018-2AFE-4A90-5616-171E7467DE88}"/>
              </a:ext>
            </a:extLst>
          </p:cNvPr>
          <p:cNvSpPr txBox="1"/>
          <p:nvPr/>
        </p:nvSpPr>
        <p:spPr>
          <a:xfrm>
            <a:off x="2133600" y="9568149"/>
            <a:ext cx="134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dirty="0"/>
              <a:t>→ </a:t>
            </a:r>
            <a:r>
              <a:rPr lang="ko-KR" altLang="en-US" b="1" dirty="0"/>
              <a:t>진단 가능성에 따른 귀인 성능 변화 </a:t>
            </a:r>
            <a:r>
              <a:rPr lang="ko-KR" altLang="en-US" dirty="0"/>
              <a:t>분석 </a:t>
            </a:r>
            <a:r>
              <a:rPr lang="en-US" altLang="ko-KR" dirty="0"/>
              <a:t>, </a:t>
            </a:r>
            <a:r>
              <a:rPr lang="ko-KR" altLang="ko-KR" b="1" dirty="0"/>
              <a:t>어떤 L0가 사라졌을 때 성능이 얼마나 떨어지는지</a:t>
            </a:r>
            <a:r>
              <a:rPr lang="ko-KR" altLang="ko-KR" dirty="0"/>
              <a:t>를 확인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6ED54F-70A9-C144-3BF3-9731532C0907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69FF89D4-0872-7B4B-DCDB-AF02DC2D4E25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8392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A885-A3E0-82A3-771D-4EA634A0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E6356B9E-A7EB-D99E-9607-11648C8C6DBF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4.4.1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1 ② 가설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218241-4088-5FCB-1BFB-BBD2D695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F1E3333F-4D35-30A3-5F4A-8E3FC51A6C47}"/>
              </a:ext>
            </a:extLst>
          </p:cNvPr>
          <p:cNvSpPr txBox="1"/>
          <p:nvPr/>
        </p:nvSpPr>
        <p:spPr>
          <a:xfrm>
            <a:off x="1143000" y="2095500"/>
            <a:ext cx="15925800" cy="4441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H1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노이즈를 주입한 로그의 진단 가능성이 원본보다 낮게 산출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요구 L0가 </a:t>
            </a:r>
            <a:r>
              <a:rPr lang="ko-KR" altLang="ko-KR" dirty="0" err="1">
                <a:latin typeface="+mn-ea"/>
              </a:rPr>
              <a:t>X가</a:t>
            </a:r>
            <a:r>
              <a:rPr lang="ko-KR" altLang="ko-KR" dirty="0">
                <a:latin typeface="+mn-ea"/>
              </a:rPr>
              <a:t> 되면 해당 L1 · L2 항목이 판단 불가로 제외되기 때문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H2 — </a:t>
            </a:r>
            <a:r>
              <a:rPr lang="ko-KR" altLang="ko-KR" sz="1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진단가능성이 낮아진 로그에서 오류 귀인 성능도 함께 하락</a:t>
            </a:r>
            <a:endParaRPr lang="en-US" altLang="ko-KR" sz="1900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두 값이 같은 방향으로 움직이면 진단가능성이 </a:t>
            </a:r>
            <a:r>
              <a:rPr lang="ko-KR" altLang="en-US" dirty="0">
                <a:latin typeface="+mn-ea"/>
              </a:rPr>
              <a:t>오류 귀인의 정확도에 영향을 미친다고 설명 가능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H3 —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agent-level보다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step-level의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하락폭이 큼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기존 연구에서도 </a:t>
            </a:r>
            <a:r>
              <a:rPr lang="ko-KR" altLang="ko-KR" dirty="0" err="1">
                <a:latin typeface="+mn-ea"/>
              </a:rPr>
              <a:t>step-level</a:t>
            </a:r>
            <a:r>
              <a:rPr lang="ko-KR" altLang="ko-KR" dirty="0">
                <a:latin typeface="+mn-ea"/>
              </a:rPr>
              <a:t> 정확도가 현저히 낮게 보고되어, 세밀한 판단일수록 근거 소실에 민감할 것으로 예상</a:t>
            </a:r>
            <a:endParaRPr lang="en-US" altLang="ko-KR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31EAF-BF53-C713-2F73-D7F8863F78AE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4C2F5F84-951A-1CF1-E5CC-AAAC7DA1E9C6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57331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28094-32FF-81CE-21EE-39D8F8EAB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D9BCD64E-DAD9-65F0-DAAB-3198E8060D1C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4.4.2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1 ③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예상 그래프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EDC5BE3-C986-DFFD-A997-C15730915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14B5F-BA62-681E-BECD-7BED2F88DE1C}"/>
              </a:ext>
            </a:extLst>
          </p:cNvPr>
          <p:cNvSpPr txBox="1"/>
          <p:nvPr/>
        </p:nvSpPr>
        <p:spPr>
          <a:xfrm>
            <a:off x="838200" y="2863542"/>
            <a:ext cx="3505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노이즈 조건별 진단가능성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852E2C-9F69-59A1-622E-B25FDE0B5D4B}"/>
              </a:ext>
            </a:extLst>
          </p:cNvPr>
          <p:cNvSpPr txBox="1"/>
          <p:nvPr/>
        </p:nvSpPr>
        <p:spPr>
          <a:xfrm>
            <a:off x="10363200" y="2863541"/>
            <a:ext cx="44196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노이즈 조건별 오류 귀인 정확도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E00ADA-9344-0130-0A0F-1779A36C41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85" r="48607"/>
          <a:stretch>
            <a:fillRect/>
          </a:stretch>
        </p:blipFill>
        <p:spPr>
          <a:xfrm>
            <a:off x="838200" y="3619500"/>
            <a:ext cx="6819900" cy="415169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27943B9-38CA-3C67-8B07-4E59E5BC4A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667" t="11895"/>
          <a:stretch>
            <a:fillRect/>
          </a:stretch>
        </p:blipFill>
        <p:spPr>
          <a:xfrm>
            <a:off x="9677400" y="3467100"/>
            <a:ext cx="7428753" cy="478093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F27BF7-D650-BC6F-150F-86E23AF70A0C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DAEAEBE0-0ABD-EEA3-54BD-B1461A5274D3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069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F54E-8348-6AAA-6D6D-692BFC492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D093D49B-A5FE-5EF2-8F84-145F56744449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4.5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①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벤치마크 비교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설계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B31DEF-43CF-626B-1F1B-C5AAFF7FD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A128B02C-81BF-542B-807E-D352A76AE48C}"/>
              </a:ext>
            </a:extLst>
          </p:cNvPr>
          <p:cNvSpPr txBox="1"/>
          <p:nvPr/>
        </p:nvSpPr>
        <p:spPr>
          <a:xfrm>
            <a:off x="1143000" y="2095500"/>
            <a:ext cx="15925800" cy="6714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로그 형식이 서로 다른 벤치마크 4종을 대상으로, 진단가능성과 귀인 정확도의 관계를 평가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대상 벤치마크 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초안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Who&amp;When</a:t>
            </a:r>
            <a:r>
              <a:rPr lang="ko-KR" altLang="ko-KR" dirty="0">
                <a:latin typeface="+mn-ea"/>
              </a:rPr>
              <a:t> — 대화 형식의 실패 로그, 출력 중심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TRAIL — </a:t>
            </a:r>
            <a:r>
              <a:rPr lang="ko-KR" altLang="ko-KR" dirty="0" err="1">
                <a:latin typeface="+mn-ea"/>
              </a:rPr>
              <a:t>OpenTelemetry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span</a:t>
            </a:r>
            <a:r>
              <a:rPr lang="ko-KR" altLang="ko-KR" dirty="0">
                <a:latin typeface="+mn-ea"/>
              </a:rPr>
              <a:t> 형식, 시스템 정보 포함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AgentErrorBench</a:t>
            </a:r>
            <a:r>
              <a:rPr lang="ko-KR" altLang="ko-KR" dirty="0">
                <a:latin typeface="+mn-ea"/>
              </a:rPr>
              <a:t> (AE</a:t>
            </a:r>
            <a:r>
              <a:rPr lang="en-US" altLang="ko-KR" dirty="0">
                <a:latin typeface="+mn-ea"/>
              </a:rPr>
              <a:t>B</a:t>
            </a:r>
            <a:r>
              <a:rPr lang="ko-KR" altLang="ko-KR" dirty="0">
                <a:latin typeface="+mn-ea"/>
              </a:rPr>
              <a:t>) — </a:t>
            </a:r>
            <a:r>
              <a:rPr lang="ko-KR" altLang="ko-KR" dirty="0" err="1">
                <a:latin typeface="+mn-ea"/>
              </a:rPr>
              <a:t>ALFWorld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WebShop</a:t>
            </a:r>
            <a:r>
              <a:rPr lang="ko-KR" altLang="ko-KR" dirty="0">
                <a:latin typeface="+mn-ea"/>
              </a:rPr>
              <a:t> · </a:t>
            </a:r>
            <a:r>
              <a:rPr lang="ko-KR" altLang="ko-KR" dirty="0" err="1">
                <a:latin typeface="+mn-ea"/>
              </a:rPr>
              <a:t>GAIA의</a:t>
            </a:r>
            <a:r>
              <a:rPr lang="ko-KR" altLang="ko-KR" dirty="0">
                <a:latin typeface="+mn-ea"/>
              </a:rPr>
              <a:t> </a:t>
            </a:r>
            <a:r>
              <a:rPr lang="ko-KR" altLang="ko-KR" dirty="0" err="1">
                <a:latin typeface="+mn-ea"/>
              </a:rPr>
              <a:t>step</a:t>
            </a:r>
            <a:r>
              <a:rPr lang="ko-KR" altLang="ko-KR" dirty="0">
                <a:latin typeface="+mn-ea"/>
              </a:rPr>
              <a:t> 단위 궤적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벤치마크의 로그 형식이 달라 진단가능성의 분포가 넓게 형성될 것으로 예상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체크리스트 적용으로 진단가능성 산출 → 동일 귀인 방법론 적용 → 두 값의 관계 분석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측정 단위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 err="1">
                <a:latin typeface="+mn-ea"/>
              </a:rPr>
              <a:t>trace</a:t>
            </a:r>
            <a:r>
              <a:rPr lang="ko-KR" altLang="ko-KR" dirty="0">
                <a:latin typeface="+mn-ea"/>
              </a:rPr>
              <a:t> 단위로 산출하고, 벤치마크는 </a:t>
            </a:r>
            <a:r>
              <a:rPr lang="ko-KR" altLang="en-US" dirty="0">
                <a:latin typeface="+mn-ea"/>
              </a:rPr>
              <a:t>단위로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진단가능성과 오류 귀인 정확도의 관계 분석 </a:t>
            </a:r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551D2F-3EE7-7E9F-A37C-F0FA5C41A1E2}"/>
              </a:ext>
            </a:extLst>
          </p:cNvPr>
          <p:cNvSpPr txBox="1"/>
          <p:nvPr/>
        </p:nvSpPr>
        <p:spPr>
          <a:xfrm>
            <a:off x="1524000" y="9051905"/>
            <a:ext cx="13411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1" dirty="0"/>
              <a:t>→ 실험 1에서 확인한 관계를, 실제 벤치마크 간 차이에서도 재확인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50FE3A-ABFC-5484-9166-2EF0F7F1FC16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1" name="AutoShape 14">
            <a:extLst>
              <a:ext uri="{FF2B5EF4-FFF2-40B4-BE49-F238E27FC236}">
                <a16:creationId xmlns:a16="http://schemas.microsoft.com/office/drawing/2014/main" id="{DBA39A1C-2104-D59A-1A22-D9EA6FA94D70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07595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868EF-FB24-C724-DCFD-8B2F94F20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128243E3-2ABE-2407-885B-6DC27D7C1C5B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4.5.1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② 가설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52E05DC-5E4E-BA31-CAA1-380C1B94D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8018A5E0-7937-8600-71F8-8E4DFB8B2C4E}"/>
              </a:ext>
            </a:extLst>
          </p:cNvPr>
          <p:cNvSpPr txBox="1"/>
          <p:nvPr/>
        </p:nvSpPr>
        <p:spPr>
          <a:xfrm>
            <a:off x="1143000" y="2095500"/>
            <a:ext cx="15925800" cy="3333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en-US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H4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ko-KR" sz="1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벤치마크 간 진단가능성의 평균값이 뚜렷한 차이를 보임</a:t>
            </a:r>
            <a:endParaRPr lang="en-US" altLang="ko-KR" sz="1900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H5 — </a:t>
            </a:r>
            <a:r>
              <a:rPr lang="ko-KR" altLang="ko-KR" sz="1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진단가능성과 귀인 정확도 사이에 양의 </a:t>
            </a:r>
            <a:r>
              <a:rPr lang="ko-KR" altLang="en-US" sz="1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 </a:t>
            </a:r>
            <a:r>
              <a:rPr lang="ko-KR" altLang="ko-KR" sz="1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관계</a:t>
            </a:r>
            <a:endParaRPr lang="en-US" altLang="ko-KR" sz="1900" b="1" dirty="0">
              <a:solidFill>
                <a:srgbClr val="0070C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H6 — 동일 벤치마크 내에서도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trace별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진단가능성의 분산이 존재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벤치마크 단위 평균만으로는 설명되지 않는 변동이 있을 것으로 예상</a:t>
            </a:r>
            <a:endParaRPr lang="en-US" altLang="ko-KR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CDCBFC-239D-FEA0-1EF1-1A88BE75A995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5B6BAFB5-BCA6-6019-4588-9397A2F188C3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70683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2B38B-6E42-3011-B994-BF74A4596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DEDF283B-1B3B-60D9-E5DB-B95883F6DC76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4.5.2 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</a:t>
            </a: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③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예상 그래프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FCDBCC4-9B45-1003-F7A7-BE62DFAB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693027-B772-9E3C-2251-935974502D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72" r="49167"/>
          <a:stretch>
            <a:fillRect/>
          </a:stretch>
        </p:blipFill>
        <p:spPr>
          <a:xfrm>
            <a:off x="838200" y="3619500"/>
            <a:ext cx="7753372" cy="46649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139891-E79F-86DE-27C0-F190C3BF7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83" t="13372"/>
          <a:stretch>
            <a:fillRect/>
          </a:stretch>
        </p:blipFill>
        <p:spPr>
          <a:xfrm>
            <a:off x="10058400" y="3619500"/>
            <a:ext cx="7162800" cy="45719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0667C06-0F3D-F7A0-A756-7614F6B0635A}"/>
              </a:ext>
            </a:extLst>
          </p:cNvPr>
          <p:cNvSpPr txBox="1"/>
          <p:nvPr/>
        </p:nvSpPr>
        <p:spPr>
          <a:xfrm>
            <a:off x="838200" y="2863542"/>
            <a:ext cx="35052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벤치마크별 진단가능성 분포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9B50FC-DABB-D6C2-6FC5-CB10CEE539F2}"/>
              </a:ext>
            </a:extLst>
          </p:cNvPr>
          <p:cNvSpPr txBox="1"/>
          <p:nvPr/>
        </p:nvSpPr>
        <p:spPr>
          <a:xfrm>
            <a:off x="10363200" y="2863541"/>
            <a:ext cx="53340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진단가능성과 오류 귀인 정확도의 관계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160154-8652-2B27-1C0D-FE3F6822EB45}"/>
              </a:ext>
            </a:extLst>
          </p:cNvPr>
          <p:cNvSpPr txBox="1"/>
          <p:nvPr/>
        </p:nvSpPr>
        <p:spPr>
          <a:xfrm>
            <a:off x="-76200" y="474702"/>
            <a:ext cx="4191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Experimental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Design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4F3F1F42-D97C-2EB4-D7DB-372D54C1BDF8}"/>
              </a:ext>
            </a:extLst>
          </p:cNvPr>
          <p:cNvSpPr/>
          <p:nvPr/>
        </p:nvSpPr>
        <p:spPr>
          <a:xfrm flipV="1">
            <a:off x="2" y="408279"/>
            <a:ext cx="406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0787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FF34-6955-E679-7CEA-2EFE2C62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8A0F3375-3FE9-3A23-FE2C-D0EF03A8A448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5.1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기대 기여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AD881F8-4737-E5DC-8231-79CD75216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363EA-8CE2-2955-6855-59A39A9CBD41}"/>
              </a:ext>
            </a:extLst>
          </p:cNvPr>
          <p:cNvSpPr txBox="1"/>
          <p:nvPr/>
        </p:nvSpPr>
        <p:spPr>
          <a:xfrm>
            <a:off x="-76200" y="474702"/>
            <a:ext cx="4724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Expected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Contributuon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9" name="AutoShape 14">
            <a:extLst>
              <a:ext uri="{FF2B5EF4-FFF2-40B4-BE49-F238E27FC236}">
                <a16:creationId xmlns:a16="http://schemas.microsoft.com/office/drawing/2014/main" id="{95D28337-13F2-8361-47F6-80441EB86D5E}"/>
              </a:ext>
            </a:extLst>
          </p:cNvPr>
          <p:cNvSpPr/>
          <p:nvPr/>
        </p:nvSpPr>
        <p:spPr>
          <a:xfrm flipV="1">
            <a:off x="2" y="408278"/>
            <a:ext cx="460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0EC5F909-92B3-55F8-D2EF-61B152C5D7CB}"/>
              </a:ext>
            </a:extLst>
          </p:cNvPr>
          <p:cNvSpPr txBox="1"/>
          <p:nvPr/>
        </p:nvSpPr>
        <p:spPr>
          <a:xfrm>
            <a:off x="1143000" y="2095500"/>
            <a:ext cx="15925800" cy="55805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오류 분류 체계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4종을 통합한 진단 체크리스트를 제시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요구 L0가 </a:t>
            </a:r>
            <a:r>
              <a:rPr lang="ko-KR" altLang="ko-KR" dirty="0" err="1">
                <a:latin typeface="+mn-ea"/>
              </a:rPr>
              <a:t>X가</a:t>
            </a:r>
            <a:r>
              <a:rPr lang="ko-KR" altLang="ko-KR" dirty="0">
                <a:latin typeface="+mn-ea"/>
              </a:rPr>
              <a:t> 되면 해당 L1 · L2 항목이 판단 불가로 제외되기 때문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각 오류 유형을 판단하는 데 필요한 조건을 명시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기존 분류 체계가 제공하지 않던 정보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실제 진단이나 귀인을 수행하기 전에 로그를 평가할 수 있는 지표를 제공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로그 설계 지침으로 활용 가능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dirty="0">
                <a:latin typeface="+mn-ea"/>
              </a:rPr>
              <a:t>    </a:t>
            </a:r>
            <a:r>
              <a:rPr lang="en-US" altLang="ko-KR" dirty="0">
                <a:latin typeface="+mn-ea"/>
              </a:rPr>
              <a:t>-</a:t>
            </a:r>
            <a:r>
              <a:rPr lang="ko-KR" altLang="en-US" dirty="0">
                <a:latin typeface="+mn-ea"/>
              </a:rPr>
              <a:t> 무엇을 로그에 남겨야 어떤 오류를 진단할 수 있는지를 제시</a:t>
            </a:r>
            <a:endParaRPr lang="en-US" altLang="ko-KR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D0E56B-7299-B0CB-416F-7120F27A0F1A}"/>
              </a:ext>
            </a:extLst>
          </p:cNvPr>
          <p:cNvSpPr txBox="1"/>
          <p:nvPr/>
        </p:nvSpPr>
        <p:spPr>
          <a:xfrm>
            <a:off x="762000" y="8115300"/>
            <a:ext cx="9829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rtl="0"/>
            <a:r>
              <a:rPr lang="ko-KR" altLang="ko-KR" sz="2000" b="1" dirty="0">
                <a:solidFill>
                  <a:srgbClr val="0070C0"/>
                </a:solidFill>
              </a:rPr>
              <a:t>→ 기존 연구가 사후에 성능을 비교했다면, 본 연구는 사전에 로그를 </a:t>
            </a:r>
            <a:r>
              <a:rPr lang="ko-KR" altLang="en-US" sz="2000" b="1" dirty="0">
                <a:solidFill>
                  <a:srgbClr val="0070C0"/>
                </a:solidFill>
              </a:rPr>
              <a:t>진단</a:t>
            </a:r>
            <a:r>
              <a:rPr lang="ko-KR" altLang="ko-KR" sz="2000" b="1" dirty="0">
                <a:solidFill>
                  <a:srgbClr val="0070C0"/>
                </a:solidFill>
              </a:rPr>
              <a:t>하는 방향을 제안</a:t>
            </a:r>
          </a:p>
        </p:txBody>
      </p:sp>
    </p:spTree>
    <p:extLst>
      <p:ext uri="{BB962C8B-B14F-4D97-AF65-F5344CB8AC3E}">
        <p14:creationId xmlns:p14="http://schemas.microsoft.com/office/powerpoint/2010/main" val="35793664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24CBE-CF2F-19A4-5FA1-ADF8AA71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9">
            <a:extLst>
              <a:ext uri="{FF2B5EF4-FFF2-40B4-BE49-F238E27FC236}">
                <a16:creationId xmlns:a16="http://schemas.microsoft.com/office/drawing/2014/main" id="{93BB0625-1306-5B3E-BA2D-D3415AFD6C6E}"/>
              </a:ext>
            </a:extLst>
          </p:cNvPr>
          <p:cNvSpPr txBox="1"/>
          <p:nvPr/>
        </p:nvSpPr>
        <p:spPr>
          <a:xfrm>
            <a:off x="228600" y="1138929"/>
            <a:ext cx="8001000" cy="721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89"/>
              </a:lnSpc>
              <a:spcBef>
                <a:spcPct val="0"/>
              </a:spcBef>
            </a:pPr>
            <a:r>
              <a:rPr lang="en-US" altLang="ko-KR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5.2 </a:t>
            </a:r>
            <a:r>
              <a:rPr lang="ko-KR" altLang="en-US" sz="28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윤고딕"/>
              </a:rPr>
              <a:t>예상 한계 </a:t>
            </a:r>
            <a:endParaRPr lang="en-US" altLang="ko-KR" sz="28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E39216-9097-CE87-ED25-DA86BFD0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837C31A5-F625-6E4D-DF0F-91D89C6D9439}"/>
              </a:ext>
            </a:extLst>
          </p:cNvPr>
          <p:cNvSpPr txBox="1"/>
          <p:nvPr/>
        </p:nvSpPr>
        <p:spPr>
          <a:xfrm>
            <a:off x="1143000" y="2095500"/>
            <a:ext cx="15925800" cy="44417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진단가능성이 특정 L0에 크게 좌우됨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12개 진단 항목 중 11개가 L0-03을 요구하여, L0-03이 </a:t>
            </a:r>
            <a:r>
              <a:rPr lang="ko-KR" altLang="ko-KR" dirty="0" err="1">
                <a:latin typeface="+mn-ea"/>
              </a:rPr>
              <a:t>X이면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진단가능성이 크게 하락하는 구조 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L0 판정이 이진(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ko-KR" altLang="ko-KR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X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)이어서, 일부 단계에만 근거가 남아 있는 경우의 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지침이 </a:t>
            </a:r>
            <a:r>
              <a:rPr lang="ko-KR" altLang="en-US" sz="19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필요할것으로</a:t>
            </a: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예상 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</a:t>
            </a:r>
            <a:r>
              <a:rPr lang="ko-KR" altLang="ko-KR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근거의 존재만 측정하고 정확성은 측정하지 않음</a:t>
            </a:r>
            <a:endParaRPr lang="en-US" altLang="ko-KR" sz="19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en-US" altLang="ko-KR" dirty="0">
                <a:latin typeface="+mn-ea"/>
              </a:rPr>
              <a:t>    - </a:t>
            </a:r>
            <a:r>
              <a:rPr lang="ko-KR" altLang="ko-KR" dirty="0">
                <a:latin typeface="+mn-ea"/>
              </a:rPr>
              <a:t>잘못된 내용이 기록된 로그도 진단가능성은 높게 산</a:t>
            </a:r>
            <a:r>
              <a:rPr lang="ko-KR" altLang="en-US" dirty="0">
                <a:latin typeface="+mn-ea"/>
              </a:rPr>
              <a:t>출될 수 있음</a:t>
            </a:r>
            <a:endParaRPr lang="en-US" altLang="ko-KR" dirty="0">
              <a:latin typeface="+mn-ea"/>
            </a:endParaRPr>
          </a:p>
          <a:p>
            <a:pPr>
              <a:lnSpc>
                <a:spcPct val="200000"/>
              </a:lnSpc>
              <a:spcBef>
                <a:spcPct val="0"/>
              </a:spcBef>
            </a:pPr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F2CCD6-FC7A-0BA9-3DAC-CAA152FBBABC}"/>
              </a:ext>
            </a:extLst>
          </p:cNvPr>
          <p:cNvSpPr txBox="1"/>
          <p:nvPr/>
        </p:nvSpPr>
        <p:spPr>
          <a:xfrm>
            <a:off x="-76200" y="474702"/>
            <a:ext cx="4724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ct val="0"/>
              </a:spcBef>
            </a:pPr>
            <a:r>
              <a:rPr lang="ko-KR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Expected</a:t>
            </a:r>
            <a:r>
              <a:rPr lang="ko-KR" altLang="ko-KR" sz="3000" b="1" spc="-65" dirty="0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000" b="1" spc="-65" dirty="0" err="1">
                <a:solidFill>
                  <a:srgbClr val="19191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Contributuon</a:t>
            </a:r>
            <a:endParaRPr lang="en-US" altLang="ko-KR" sz="3000" b="1" spc="-65" dirty="0">
              <a:solidFill>
                <a:srgbClr val="19191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윤고딕"/>
            </a:endParaRP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55CCDF0B-361B-77CF-ED66-F06006B81E4A}"/>
              </a:ext>
            </a:extLst>
          </p:cNvPr>
          <p:cNvSpPr/>
          <p:nvPr/>
        </p:nvSpPr>
        <p:spPr>
          <a:xfrm flipV="1">
            <a:off x="2" y="408278"/>
            <a:ext cx="46080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39124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9"/>
          <p:cNvSpPr txBox="1"/>
          <p:nvPr/>
        </p:nvSpPr>
        <p:spPr>
          <a:xfrm>
            <a:off x="361950" y="384538"/>
            <a:ext cx="3676650" cy="746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ko-KR" altLang="en-US" sz="3600" b="1" spc="-65" dirty="0">
                <a:solidFill>
                  <a:srgbClr val="191919"/>
                </a:solidFill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  <a:sym typeface="윤고딕"/>
              </a:rPr>
              <a:t>사전세미나 코멘트</a:t>
            </a:r>
            <a:endParaRPr lang="en-US" sz="3200" b="1" spc="-65" dirty="0">
              <a:solidFill>
                <a:srgbClr val="191919"/>
              </a:solidFill>
              <a:latin typeface="Pretendard" panose="02000803000000020004" pitchFamily="50" charset="-127"/>
              <a:ea typeface="Pretendard" panose="02000803000000020004" pitchFamily="50" charset="-127"/>
              <a:cs typeface="Pretendard" panose="02000803000000020004" pitchFamily="50" charset="-127"/>
              <a:sym typeface="윤고딕"/>
            </a:endParaRPr>
          </a:p>
        </p:txBody>
      </p:sp>
      <p:sp>
        <p:nvSpPr>
          <p:cNvPr id="20" name="AutoShape 20"/>
          <p:cNvSpPr/>
          <p:nvPr/>
        </p:nvSpPr>
        <p:spPr>
          <a:xfrm flipV="1">
            <a:off x="0" y="495300"/>
            <a:ext cx="4038600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3AD895C6-73A5-4CDF-AD12-F1C36F2F5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2471733"/>
              </p:ext>
            </p:extLst>
          </p:nvPr>
        </p:nvGraphicFramePr>
        <p:xfrm>
          <a:off x="1466850" y="2095500"/>
          <a:ext cx="15354300" cy="7327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7150">
                  <a:extLst>
                    <a:ext uri="{9D8B030D-6E8A-4147-A177-3AD203B41FA5}">
                      <a16:colId xmlns:a16="http://schemas.microsoft.com/office/drawing/2014/main" val="3253225376"/>
                    </a:ext>
                  </a:extLst>
                </a:gridCol>
                <a:gridCol w="7677150">
                  <a:extLst>
                    <a:ext uri="{9D8B030D-6E8A-4147-A177-3AD203B41FA5}">
                      <a16:colId xmlns:a16="http://schemas.microsoft.com/office/drawing/2014/main" val="1961400272"/>
                    </a:ext>
                  </a:extLst>
                </a:gridCol>
              </a:tblGrid>
              <a:tr h="183199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700" b="1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Q1: </a:t>
                      </a:r>
                      <a:r>
                        <a:rPr lang="ko-KR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오류 귀인 시 체크리스트는 어떻게 사용되며, </a:t>
                      </a:r>
                      <a:r>
                        <a:rPr lang="ko-KR" altLang="ko-K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taxonomy도</a:t>
                      </a:r>
                      <a:r>
                        <a:rPr lang="ko-KR" altLang="ko-K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함께 제공하는지?</a:t>
                      </a:r>
                      <a:endParaRPr lang="ko-KR" alt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A1: 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전체 로그와 체크리스트(L1·L2)만 제공하고 </a:t>
                      </a:r>
                      <a:r>
                        <a:rPr lang="ko-KR" altLang="ko-KR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taxonomy는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제공하지 않음. 체크리스트가 </a:t>
                      </a:r>
                      <a:r>
                        <a:rPr lang="ko-KR" altLang="ko-KR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taxonomy를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녹여 만든 것이라 필요한 정보는 이미 들어 있다고 봄. 기존 논문</a:t>
                      </a:r>
                      <a:r>
                        <a:rPr lang="ko-KR" altLang="en-US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들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의 "로그 + </a:t>
                      </a:r>
                      <a:r>
                        <a:rPr lang="ko-KR" altLang="ko-KR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 구조에서 </a:t>
                      </a:r>
                      <a:r>
                        <a:rPr lang="ko-KR" altLang="ko-KR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자리를 체크리스트가 대체한 형태임. 흐름은 로그 → L0 → L1·L2 → 귀인 순이며, L0에서 </a:t>
                      </a:r>
                      <a:r>
                        <a:rPr lang="ko-KR" altLang="ko-KR" sz="16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X가</a:t>
                      </a:r>
                      <a:r>
                        <a:rPr lang="ko-KR" altLang="ko-KR" sz="16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뜨면 L1·L2는 채우지 않음. 체크리스트 결과가 귀인에 영향을 주므로 두 과정은 독립적이지 않음.</a:t>
                      </a:r>
                      <a:endParaRPr lang="ko-KR" altLang="en-US" sz="16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4375898"/>
                  </a:ext>
                </a:extLst>
              </a:tr>
              <a:tr h="183199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Q2: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기존 </a:t>
                      </a:r>
                      <a:r>
                        <a:rPr lang="ko-KR" altLang="ko-KR" sz="16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taxonomy들에는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L0 성격의 항목이 거의 없는데, 데이터셋에 따라 L0를 통과하지 못해 진단 자체가 안 되는 경우가 생기지 않을지?</a:t>
                      </a:r>
                      <a:endParaRPr lang="ko-KR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700" b="0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A2: </a:t>
                      </a:r>
                      <a:r>
                        <a:rPr lang="ko-KR" altLang="ko-KR" sz="1600" dirty="0" err="1"/>
                        <a:t>taxonomy는</a:t>
                      </a:r>
                      <a:r>
                        <a:rPr lang="ko-KR" altLang="ko-KR" sz="1600" dirty="0"/>
                        <a:t> 벤치마크를 만들면서 오류 유형 중심으로 설계됐기 때문에 L0 항목이 적을 수 있음. 하지만 L0는 오류의 존재 여부가 아니라 로그에 기본 정보가 기록되어 있는지를 보는 계층이라, 대부분의 로그에 공통으로 존재할 것으로 판단함. 실제 결과는 확인이 필요함.</a:t>
                      </a:r>
                      <a:endParaRPr lang="ko-KR" altLang="en-US" sz="1700" b="0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736537"/>
                  </a:ext>
                </a:extLst>
              </a:tr>
              <a:tr h="183199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Q3: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체크리스트를 줬을 때와 안 줬을 때의 성능 비교 실험은 있는지?</a:t>
                      </a:r>
                      <a:endParaRPr lang="ko-KR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700" b="0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A3: </a:t>
                      </a:r>
                      <a:r>
                        <a:rPr lang="ko-KR" altLang="ko-KR" sz="1600" dirty="0"/>
                        <a:t>메인 실험으로는 하지 않음. 논문의 주장은 "체크리스트가 성능을 </a:t>
                      </a:r>
                      <a:r>
                        <a:rPr lang="ko-KR" altLang="ko-KR" sz="1600" dirty="0" err="1"/>
                        <a:t>올린다"가</a:t>
                      </a:r>
                      <a:r>
                        <a:rPr lang="ko-KR" altLang="ko-KR" sz="1600" dirty="0"/>
                        <a:t> 아니라 "진단 가능성과 오류 귀인 정확도가 양의 상관관계를 </a:t>
                      </a:r>
                      <a:r>
                        <a:rPr lang="ko-KR" altLang="ko-KR" sz="1600" dirty="0" err="1"/>
                        <a:t>가진다"임</a:t>
                      </a:r>
                      <a:r>
                        <a:rPr lang="ko-KR" altLang="ko-KR" sz="1600" dirty="0"/>
                        <a:t>. 다만 진단 가능성 구간별로 체크리스트 유무를 비교하는 </a:t>
                      </a:r>
                      <a:r>
                        <a:rPr lang="ko-KR" altLang="ko-KR" sz="1600" dirty="0" err="1"/>
                        <a:t>ablation은</a:t>
                      </a:r>
                      <a:r>
                        <a:rPr lang="ko-KR" altLang="ko-KR" sz="1600" dirty="0"/>
                        <a:t> 추가 검토할 가치가 있음.</a:t>
                      </a:r>
                      <a:endParaRPr lang="ko-KR" altLang="en-US" sz="1700" b="0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789838"/>
                  </a:ext>
                </a:extLst>
              </a:tr>
              <a:tr h="1831994">
                <a:tc>
                  <a:txBody>
                    <a:bodyPr/>
                    <a:lstStyle/>
                    <a:p>
                      <a:pPr marL="0" algn="just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Q4: </a:t>
                      </a:r>
                      <a:r>
                        <a:rPr lang="ko-KR" altLang="ko-KR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노이즈 실험에서 제거한 부분에 정답이 있거나 스텝이 사라지면 어떻게 되는지?</a:t>
                      </a:r>
                      <a:endParaRPr lang="ko-KR" altLang="en-US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" altLang="ko-KR" sz="1700" b="0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A4: </a:t>
                      </a:r>
                      <a:r>
                        <a:rPr lang="ko-KR" altLang="ko-KR" sz="1600" dirty="0"/>
                        <a:t>L0 항목에 해당하는 정보(예: 모델 정보, 토큰 한도, 행동 결과)를 로그에서 제거하는 방식임. 스텝을 통째로 자르지 않고 모든 스텝에서 특정 필드만 제거하므로 스텝 구조는 유지됨.</a:t>
                      </a:r>
                      <a:endParaRPr lang="en-US" altLang="ko-KR" sz="1700" b="0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625719"/>
                  </a:ext>
                </a:extLst>
              </a:tr>
            </a:tbl>
          </a:graphicData>
        </a:graphic>
      </p:graphicFrame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AD09C2-EDB8-46AE-B580-6984D5D9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835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00D5EF6-95F9-6E72-4A16-AC2B9127CB12}"/>
              </a:ext>
            </a:extLst>
          </p:cNvPr>
          <p:cNvSpPr txBox="1"/>
          <p:nvPr/>
        </p:nvSpPr>
        <p:spPr>
          <a:xfrm>
            <a:off x="723900" y="4138872"/>
            <a:ext cx="16840200" cy="126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923"/>
              </a:lnSpc>
            </a:pPr>
            <a:r>
              <a:rPr lang="ko-KR" altLang="en-US" sz="40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4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Glacial Indifference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F574EBF-A0BB-4539-8CC6-07EAE04D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3044BC8-9736-3EBE-FC56-1DD28445B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28BCD7-E97C-6D37-3B28-21FE03C28C37}"/>
              </a:ext>
            </a:extLst>
          </p:cNvPr>
          <p:cNvSpPr txBox="1"/>
          <p:nvPr/>
        </p:nvSpPr>
        <p:spPr>
          <a:xfrm>
            <a:off x="-309282" y="228130"/>
            <a:ext cx="3128682" cy="839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6589"/>
              </a:lnSpc>
              <a:spcBef>
                <a:spcPct val="0"/>
              </a:spcBef>
            </a:pPr>
            <a:r>
              <a:rPr lang="en-US" altLang="ko-KR" sz="3600" b="1" spc="-65" dirty="0">
                <a:solidFill>
                  <a:srgbClr val="191919"/>
                </a:solidFill>
                <a:latin typeface="Pretendard" panose="02000803000000020004" pitchFamily="50" charset="-127"/>
                <a:ea typeface="Pretendard" panose="02000803000000020004" pitchFamily="50" charset="-127"/>
                <a:cs typeface="Pretendard" panose="02000803000000020004" pitchFamily="50" charset="-127"/>
                <a:sym typeface="윤고딕"/>
              </a:rPr>
              <a:t>Appendix</a:t>
            </a: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697FCF58-D3EC-FA70-DBAD-4C40E627E5F1}"/>
              </a:ext>
            </a:extLst>
          </p:cNvPr>
          <p:cNvSpPr/>
          <p:nvPr/>
        </p:nvSpPr>
        <p:spPr>
          <a:xfrm>
            <a:off x="1" y="419100"/>
            <a:ext cx="2819399" cy="0"/>
          </a:xfrm>
          <a:prstGeom prst="line">
            <a:avLst/>
          </a:prstGeom>
          <a:ln w="38100" cap="flat">
            <a:solidFill>
              <a:srgbClr val="19191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Box 19">
            <a:extLst>
              <a:ext uri="{FF2B5EF4-FFF2-40B4-BE49-F238E27FC236}">
                <a16:creationId xmlns:a16="http://schemas.microsoft.com/office/drawing/2014/main" id="{9F767246-27F4-D29C-1668-55266D900F3D}"/>
              </a:ext>
            </a:extLst>
          </p:cNvPr>
          <p:cNvSpPr txBox="1"/>
          <p:nvPr/>
        </p:nvSpPr>
        <p:spPr>
          <a:xfrm>
            <a:off x="1143000" y="1409700"/>
            <a:ext cx="15925800" cy="4977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ko-KR" altLang="en-US" sz="19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■ </a:t>
            </a:r>
            <a:r>
              <a:rPr lang="ko-KR" altLang="en-US" sz="1900" b="1" dirty="0">
                <a:latin typeface="+mn-ea"/>
                <a:ea typeface="Pretendard" panose="02000503000000020004" pitchFamily="2" charset="-127"/>
                <a:cs typeface="Pretendard" panose="02000503000000020004" pitchFamily="2" charset="-127"/>
              </a:rPr>
              <a:t>진단 항목 </a:t>
            </a:r>
            <a:r>
              <a:rPr lang="en-US" altLang="ko-KR" sz="1900" b="1" dirty="0">
                <a:latin typeface="+mn-ea"/>
                <a:ea typeface="Pretendard" panose="02000503000000020004" pitchFamily="2" charset="-127"/>
                <a:cs typeface="Pretendard" panose="02000503000000020004" pitchFamily="2" charset="-127"/>
              </a:rPr>
              <a:t>L0 </a:t>
            </a:r>
            <a:r>
              <a:rPr lang="ko-KR" altLang="en-US" sz="1900" b="1" dirty="0">
                <a:latin typeface="+mn-ea"/>
                <a:ea typeface="Pretendard" panose="02000503000000020004" pitchFamily="2" charset="-127"/>
                <a:cs typeface="Pretendard" panose="02000503000000020004" pitchFamily="2" charset="-127"/>
              </a:rPr>
              <a:t>의존 </a:t>
            </a:r>
            <a:r>
              <a:rPr lang="en-US" altLang="ko-KR" sz="1900" b="1" dirty="0">
                <a:latin typeface="+mn-ea"/>
                <a:ea typeface="Pretendard" panose="02000503000000020004" pitchFamily="2" charset="-127"/>
                <a:cs typeface="Pretendard" panose="02000503000000020004" pitchFamily="2" charset="-127"/>
              </a:rPr>
              <a:t>matrix 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12" name="Table 21">
            <a:extLst>
              <a:ext uri="{FF2B5EF4-FFF2-40B4-BE49-F238E27FC236}">
                <a16:creationId xmlns:a16="http://schemas.microsoft.com/office/drawing/2014/main" id="{A47CC62A-3497-31EC-6DA2-C0C8F750B9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596009"/>
              </p:ext>
            </p:extLst>
          </p:nvPr>
        </p:nvGraphicFramePr>
        <p:xfrm>
          <a:off x="1752600" y="2476500"/>
          <a:ext cx="15544801" cy="701040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7257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98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진단 항목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L0-03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L0-04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L0-05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L0-06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L1-03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L2-M2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L2-R2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L2-P3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L2-A2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●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600" kern="120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00743">
                <a:tc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b="1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종속 합계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</a:p>
                  </a:txBody>
                  <a:tcPr marL="60967" marR="60967" marT="18000" marB="18000" anchor="ctr">
                    <a:lnL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520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tendard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10394</TotalTime>
  <Words>3709</Words>
  <Application>Microsoft Office PowerPoint</Application>
  <PresentationFormat>사용자 지정</PresentationFormat>
  <Paragraphs>691</Paragraphs>
  <Slides>42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42</vt:i4>
      </vt:variant>
    </vt:vector>
  </HeadingPairs>
  <TitlesOfParts>
    <vt:vector size="47" baseType="lpstr">
      <vt:lpstr>맑은 고딕</vt:lpstr>
      <vt:lpstr>Arial</vt:lpstr>
      <vt:lpstr>Pretendard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심플한 비지니스 프로젝트 프레젠테이션</dc:title>
  <dc:creator>user</dc:creator>
  <cp:lastModifiedBy>서준원(대학원생-비즈니스IT전공)</cp:lastModifiedBy>
  <cp:revision>510</cp:revision>
  <dcterms:created xsi:type="dcterms:W3CDTF">2006-08-16T00:00:00Z</dcterms:created>
  <dcterms:modified xsi:type="dcterms:W3CDTF">2026-09-16T16:16:30Z</dcterms:modified>
  <dc:identifier>DAG6_CVS8QM</dc:identifier>
</cp:coreProperties>
</file>